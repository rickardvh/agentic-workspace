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d702fcfa34ab4" /><Relationship Type="http://schemas.openxmlformats.org/officeDocument/2006/relationships/extended-properties" Target="/docProps/app.xml" Id="Rfd2429eef0544943" /><Relationship Type="http://schemas.openxmlformats.org/officeDocument/2006/relationships/officeDocument" Target="/ppt/presentation.xml" Id="R2750bf14a47647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ba18663224bff"/>
  </p:sldMasterIdLst>
  <p:notesMasterIdLst>
    <p:notesMasterId xmlns:r="http://schemas.openxmlformats.org/officeDocument/2006/relationships" r:id="Refd6ce5359714dfc"/>
  </p:notesMasterIdLst>
  <p:sldIdLst>
    <p:sldId xmlns:r="http://schemas.openxmlformats.org/officeDocument/2006/relationships" id="256" r:id="R92821cf2ad584fb0"/>
    <p:sldId xmlns:r="http://schemas.openxmlformats.org/officeDocument/2006/relationships" id="257" r:id="R714f6fedf47b467a"/>
    <p:sldId xmlns:r="http://schemas.openxmlformats.org/officeDocument/2006/relationships" id="258" r:id="R77aa9addd6d04ee9"/>
    <p:sldId xmlns:r="http://schemas.openxmlformats.org/officeDocument/2006/relationships" id="259" r:id="R9d9610f606bb42c7"/>
    <p:sldId xmlns:r="http://schemas.openxmlformats.org/officeDocument/2006/relationships" id="260" r:id="Rdda5cba7db244183"/>
    <p:sldId xmlns:r="http://schemas.openxmlformats.org/officeDocument/2006/relationships" id="261" r:id="R9d6739974d484d67"/>
    <p:sldId xmlns:r="http://schemas.openxmlformats.org/officeDocument/2006/relationships" id="262" r:id="R5294d5b6904f453c"/>
    <p:sldId xmlns:r="http://schemas.openxmlformats.org/officeDocument/2006/relationships" id="263" r:id="R7a966273806342dc"/>
    <p:sldId xmlns:r="http://schemas.openxmlformats.org/officeDocument/2006/relationships" id="264" r:id="R3fde887749cc40a1"/>
    <p:sldId xmlns:r="http://schemas.openxmlformats.org/officeDocument/2006/relationships" id="265" r:id="R7a789de1637e47bc"/>
    <p:sldId xmlns:r="http://schemas.openxmlformats.org/officeDocument/2006/relationships" id="266" r:id="R4f948ae7fcff4fee"/>
    <p:sldId xmlns:r="http://schemas.openxmlformats.org/officeDocument/2006/relationships" id="267" r:id="R28ace686f7d14902"/>
    <p:sldId xmlns:r="http://schemas.openxmlformats.org/officeDocument/2006/relationships" id="268" r:id="R7b5080c14960402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a18663224bff" /><Relationship Type="http://schemas.openxmlformats.org/officeDocument/2006/relationships/theme" Target="/ppt/theme/theme1.xml" Id="R2d1b0e7c6cf94350" /><Relationship Type="http://schemas.openxmlformats.org/officeDocument/2006/relationships/notesMaster" Target="/ppt/notesMasters/notesMaster1.xml" Id="Refd6ce5359714dfc" /><Relationship Type="http://schemas.openxmlformats.org/officeDocument/2006/relationships/presProps" Target="/ppt/presProps.xml" Id="R4d8f054c45a2426a" /><Relationship Type="http://schemas.openxmlformats.org/officeDocument/2006/relationships/viewProps" Target="/ppt/viewProps.xml" Id="R6441746fe58743d6" /><Relationship Type="http://schemas.openxmlformats.org/officeDocument/2006/relationships/tableStyles" Target="/ppt/tableStyles.xml" Id="R9c726d1c8e904ae5" /><Relationship Type="http://schemas.openxmlformats.org/officeDocument/2006/relationships/slide" Target="/ppt/slides/slide1.xml" Id="R92821cf2ad584fb0" /><Relationship Type="http://schemas.openxmlformats.org/officeDocument/2006/relationships/slide" Target="/ppt/slides/slide2.xml" Id="R714f6fedf47b467a" /><Relationship Type="http://schemas.openxmlformats.org/officeDocument/2006/relationships/slide" Target="/ppt/slides/slide3.xml" Id="R77aa9addd6d04ee9" /><Relationship Type="http://schemas.openxmlformats.org/officeDocument/2006/relationships/slide" Target="/ppt/slides/slide4.xml" Id="R9d9610f606bb42c7" /><Relationship Type="http://schemas.openxmlformats.org/officeDocument/2006/relationships/slide" Target="/ppt/slides/slide5.xml" Id="Rdda5cba7db244183" /><Relationship Type="http://schemas.openxmlformats.org/officeDocument/2006/relationships/slide" Target="/ppt/slides/slide6.xml" Id="R9d6739974d484d67" /><Relationship Type="http://schemas.openxmlformats.org/officeDocument/2006/relationships/slide" Target="/ppt/slides/slide7.xml" Id="R5294d5b6904f453c" /><Relationship Type="http://schemas.openxmlformats.org/officeDocument/2006/relationships/slide" Target="/ppt/slides/slide8.xml" Id="R7a966273806342dc" /><Relationship Type="http://schemas.openxmlformats.org/officeDocument/2006/relationships/slide" Target="/ppt/slides/slide9.xml" Id="R3fde887749cc40a1" /><Relationship Type="http://schemas.openxmlformats.org/officeDocument/2006/relationships/slide" Target="/ppt/slides/slide10.xml" Id="R7a789de1637e47bc" /><Relationship Type="http://schemas.openxmlformats.org/officeDocument/2006/relationships/slide" Target="/ppt/slides/slide11.xml" Id="R4f948ae7fcff4fee" /><Relationship Type="http://schemas.openxmlformats.org/officeDocument/2006/relationships/slide" Target="/ppt/slides/slide12.xml" Id="R28ace686f7d14902" /><Relationship Type="http://schemas.openxmlformats.org/officeDocument/2006/relationships/slide" Target="/ppt/slides/slide13.xml" Id="R7b5080c14960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01832b4218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0d1906f0f84604" /><Relationship Type="http://schemas.openxmlformats.org/officeDocument/2006/relationships/notesMaster" Target="/ppt/notesMasters/notesMaster1.xml" Id="Rca5284c8870344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1f16b5d6304ab6" /><Relationship Type="http://schemas.openxmlformats.org/officeDocument/2006/relationships/notesMaster" Target="/ppt/notesMasters/notesMaster1.xml" Id="R7757031c193148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630074ddb44036" /><Relationship Type="http://schemas.openxmlformats.org/officeDocument/2006/relationships/notesMaster" Target="/ppt/notesMasters/notesMaster1.xml" Id="R2d1d20059c6f49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8ee2fe7354a32" /><Relationship Type="http://schemas.openxmlformats.org/officeDocument/2006/relationships/notesMaster" Target="/ppt/notesMasters/notesMaster1.xml" Id="R332736399d0e44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95272520b4d8e" /><Relationship Type="http://schemas.openxmlformats.org/officeDocument/2006/relationships/notesMaster" Target="/ppt/notesMasters/notesMaster1.xml" Id="R001ca96bd66441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5f476a18cd4b85" /><Relationship Type="http://schemas.openxmlformats.org/officeDocument/2006/relationships/notesMaster" Target="/ppt/notesMasters/notesMaster1.xml" Id="R76476c41dd554c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5f36bc6bf0484a" /><Relationship Type="http://schemas.openxmlformats.org/officeDocument/2006/relationships/notesMaster" Target="/ppt/notesMasters/notesMaster1.xml" Id="R798aa59641084f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4d250dc5dc41a1" /><Relationship Type="http://schemas.openxmlformats.org/officeDocument/2006/relationships/notesMaster" Target="/ppt/notesMasters/notesMaster1.xml" Id="R4b86b5008be845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39e39b70994fb7" /><Relationship Type="http://schemas.openxmlformats.org/officeDocument/2006/relationships/notesMaster" Target="/ppt/notesMasters/notesMaster1.xml" Id="Rb74787cf7a3347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f2ad546dd34b49" /><Relationship Type="http://schemas.openxmlformats.org/officeDocument/2006/relationships/notesMaster" Target="/ppt/notesMasters/notesMaster1.xml" Id="Rcdeb314e8a0742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3e9a0a5a2d4d79" /><Relationship Type="http://schemas.openxmlformats.org/officeDocument/2006/relationships/notesMaster" Target="/ppt/notesMasters/notesMaster1.xml" Id="R05f5919551ed44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35dec55f9e4f34" /><Relationship Type="http://schemas.openxmlformats.org/officeDocument/2006/relationships/notesMaster" Target="/ppt/notesMasters/notesMaster1.xml" Id="R93aaceaae39749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215f0cdb484a3f" /><Relationship Type="http://schemas.openxmlformats.org/officeDocument/2006/relationships/notesMaster" Target="/ppt/notesMasters/notesMaster1.xml" Id="R84b1fb74aa1c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7d312d887459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b5f808bdae34b16" /><Relationship Type="http://schemas.openxmlformats.org/officeDocument/2006/relationships/slideLayout" Target="/ppt/slideLayouts/slideLayout2.xml" Id="R5080d3f34e1244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0d3f34e1244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f1ee8ca4d4161" /><Relationship Type="http://schemas.openxmlformats.org/officeDocument/2006/relationships/notesSlide" Target="/ppt/notesSlides/notesSlide1.xml" Id="R9a006076f795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25cf54e3e4da9" /><Relationship Type="http://schemas.openxmlformats.org/officeDocument/2006/relationships/notesSlide" Target="/ppt/notesSlides/notesSlide2.xml" Id="Rf1df77274d0940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1e98c3a644889" /><Relationship Type="http://schemas.openxmlformats.org/officeDocument/2006/relationships/notesSlide" Target="/ppt/notesSlides/notesSlide3.xml" Id="R2fa818962c6e4f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3a68d76d045f0" /><Relationship Type="http://schemas.openxmlformats.org/officeDocument/2006/relationships/notesSlide" Target="/ppt/notesSlides/notesSlide4.xml" Id="R2f98528c44c848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c1532fb2d446c" /><Relationship Type="http://schemas.openxmlformats.org/officeDocument/2006/relationships/notesSlide" Target="/ppt/notesSlides/notesSlide5.xml" Id="R631988c35090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de5cd18e04c01" /><Relationship Type="http://schemas.openxmlformats.org/officeDocument/2006/relationships/notesSlide" Target="/ppt/notesSlides/notesSlide6.xml" Id="R25a55622a03f4c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05a95373f64e60" /><Relationship Type="http://schemas.openxmlformats.org/officeDocument/2006/relationships/notesSlide" Target="/ppt/notesSlides/notesSlide7.xml" Id="R40dad4f5541740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6d5d9d1e034135" /><Relationship Type="http://schemas.openxmlformats.org/officeDocument/2006/relationships/notesSlide" Target="/ppt/notesSlides/notesSlide8.xml" Id="R0209cf06eff641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eeed40c424b45" /><Relationship Type="http://schemas.openxmlformats.org/officeDocument/2006/relationships/notesSlide" Target="/ppt/notesSlides/notesSlide9.xml" Id="Ra6303cdd7a544f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117f193854a08" /><Relationship Type="http://schemas.openxmlformats.org/officeDocument/2006/relationships/notesSlide" Target="/ppt/notesSlides/notesSlide10.xml" Id="R13c48c2d57de4a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1a8ef53bb4f51" /><Relationship Type="http://schemas.openxmlformats.org/officeDocument/2006/relationships/notesSlide" Target="/ppt/notesSlides/notesSlide11.xml" Id="Rc87bd9e3e9c54e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271f35e914e41" /><Relationship Type="http://schemas.openxmlformats.org/officeDocument/2006/relationships/notesSlide" Target="/ppt/notesSlides/notesSlide12.xml" Id="Rcdfe806590f249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c0746644ef4f0c" /><Relationship Type="http://schemas.openxmlformats.org/officeDocument/2006/relationships/notesSlide" Target="/ppt/notesSlides/notesSlide13.xml" Id="Rea5be97e382d43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50FFB81-9170-49E5-89BA-68D75BCF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AGENTIC WORKSPACE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A10E1E5-22A6-4723-B279-0AC9DDB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104203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11827"/>
                </a:solidFill>
              </a:defRPr>
            </a:pPr>
            <a:r>
              <a:rPr sz="6150" b="1">
                <a:solidFill>
                  <a:srgbClr val="111827"/>
                </a:solidFill>
              </a:rPr>
              <a:t>Making agent work survive time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4735EEF-DA94-4DD9-A84B-EFF494E7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848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475569"/>
                </a:solidFill>
              </a:defRPr>
            </a:pPr>
            <a:r>
              <a:rPr sz="2400">
                <a:solidFill>
                  <a:srgbClr val="475569"/>
                </a:solidFill>
              </a:rPr>
              <a:t>A repo-native operating layer for intent, context, proof, ownership, and handoff.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6EEC847E-52AD-4F7E-B184-82CFBC2B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CBBA3C7-0304-4CCF-B3BC-2FC467D7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Draft structure for a developer audience</a:t>
            </a:r>
          </a:p>
        </p:txBody>
      </p:sp>
    </p:spTree>
    <p:extLst>
      <p:ext uri="{BB962C8B-B14F-4D97-AF65-F5344CB8AC3E}">
        <p14:creationId xmlns:p14="http://schemas.microsoft.com/office/powerpoint/2010/main" val="5691745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64F30A3-F36C-4A87-A270-65F6969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AC560-B60D-40C0-A2DE-F44307DD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02870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AI coding tools are fast, but weak at continuity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2178D4-646E-4E38-9335-CEF6A8E7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515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hard parts of software engineering are often outside the diff.</a:t>
            </a:r>
          </a:p>
        </p:txBody>
      </p:sp>
      <p:sp>
        <p:nvSpPr>
          <p:cNvPr id="4" name="They can produce-label">
            <a:extLst xmlns:a="http://schemas.openxmlformats.org/drawingml/2006/main">
              <a:ext uri="{FF2B5EF4-FFF2-40B4-BE49-F238E27FC236}">
                <a16:creationId xmlns:a16="http://schemas.microsoft.com/office/drawing/2014/main" id="{23F17BF5-D58D-4046-A3E9-E80414BF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THEY CAN PRODUCE</a:t>
            </a:r>
          </a:p>
        </p:txBody>
      </p:sp>
      <p:sp>
        <p:nvSpPr>
          <p:cNvPr id="5" name="They can produce-mark-0">
            <a:extLst xmlns:a="http://schemas.openxmlformats.org/drawingml/2006/main">
              <a:ext uri="{FF2B5EF4-FFF2-40B4-BE49-F238E27FC236}">
                <a16:creationId xmlns:a16="http://schemas.microsoft.com/office/drawing/2014/main" id="{71928941-5919-4CB5-861C-9761EF2E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6" name="They can produce-item-0">
            <a:extLst xmlns:a="http://schemas.openxmlformats.org/drawingml/2006/main">
              <a:ext uri="{FF2B5EF4-FFF2-40B4-BE49-F238E27FC236}">
                <a16:creationId xmlns:a16="http://schemas.microsoft.com/office/drawing/2014/main" id="{4A1690A6-93CA-4C17-8D0B-E4F3BF4E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plausible code</a:t>
            </a:r>
          </a:p>
        </p:txBody>
      </p:sp>
      <p:sp>
        <p:nvSpPr>
          <p:cNvPr id="7" name="They can produce-mark-1">
            <a:extLst xmlns:a="http://schemas.openxmlformats.org/drawingml/2006/main">
              <a:ext uri="{FF2B5EF4-FFF2-40B4-BE49-F238E27FC236}">
                <a16:creationId xmlns:a16="http://schemas.microsoft.com/office/drawing/2014/main" id="{C8DB6CCB-6A22-485E-8C4C-422CC42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8" name="They can produce-item-1">
            <a:extLst xmlns:a="http://schemas.openxmlformats.org/drawingml/2006/main">
              <a:ext uri="{FF2B5EF4-FFF2-40B4-BE49-F238E27FC236}">
                <a16:creationId xmlns:a16="http://schemas.microsoft.com/office/drawing/2014/main" id="{2E17C5BA-0D3E-46EC-9FB1-907D06B9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useful analysis</a:t>
            </a:r>
          </a:p>
        </p:txBody>
      </p:sp>
      <p:sp>
        <p:nvSpPr>
          <p:cNvPr id="9" name="They can produce-mark-2">
            <a:extLst xmlns:a="http://schemas.openxmlformats.org/drawingml/2006/main">
              <a:ext uri="{FF2B5EF4-FFF2-40B4-BE49-F238E27FC236}">
                <a16:creationId xmlns:a16="http://schemas.microsoft.com/office/drawing/2014/main" id="{D7AEF4A0-83A5-4318-943B-6487AF96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0" name="They can produce-item-2">
            <a:extLst xmlns:a="http://schemas.openxmlformats.org/drawingml/2006/main">
              <a:ext uri="{FF2B5EF4-FFF2-40B4-BE49-F238E27FC236}">
                <a16:creationId xmlns:a16="http://schemas.microsoft.com/office/drawing/2014/main" id="{32E57A60-EA82-44D2-B190-3C3F592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rapid first drafts</a:t>
            </a:r>
          </a:p>
        </p:txBody>
      </p:sp>
      <p:sp>
        <p:nvSpPr>
          <p:cNvPr id="11" name="They often lose-label">
            <a:extLst xmlns:a="http://schemas.openxmlformats.org/drawingml/2006/main">
              <a:ext uri="{FF2B5EF4-FFF2-40B4-BE49-F238E27FC236}">
                <a16:creationId xmlns:a16="http://schemas.microsoft.com/office/drawing/2014/main" id="{4C206B4F-08CE-42FD-B2C7-542FBCEF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THEY OFTEN LOSE</a:t>
            </a:r>
          </a:p>
        </p:txBody>
      </p:sp>
      <p:sp>
        <p:nvSpPr>
          <p:cNvPr id="12" name="They often lose-mark-0">
            <a:extLst xmlns:a="http://schemas.openxmlformats.org/drawingml/2006/main">
              <a:ext uri="{FF2B5EF4-FFF2-40B4-BE49-F238E27FC236}">
                <a16:creationId xmlns:a16="http://schemas.microsoft.com/office/drawing/2014/main" id="{605378E8-9622-4EEC-B1A1-E2BE5D0A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433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3" name="They often lose-item-0">
            <a:extLst xmlns:a="http://schemas.openxmlformats.org/drawingml/2006/main">
              <a:ext uri="{FF2B5EF4-FFF2-40B4-BE49-F238E27FC236}">
                <a16:creationId xmlns:a16="http://schemas.microsoft.com/office/drawing/2014/main" id="{7BD47AC3-69EC-4E35-9540-7A578F9A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intent</a:t>
            </a:r>
          </a:p>
        </p:txBody>
      </p:sp>
      <p:sp>
        <p:nvSpPr>
          <p:cNvPr id="14" name="They often lose-mark-1">
            <a:extLst xmlns:a="http://schemas.openxmlformats.org/drawingml/2006/main">
              <a:ext uri="{FF2B5EF4-FFF2-40B4-BE49-F238E27FC236}">
                <a16:creationId xmlns:a16="http://schemas.microsoft.com/office/drawing/2014/main" id="{69F5EA66-8D0F-4F40-9D96-27A8F86D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814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5" name="They often lose-item-1">
            <a:extLst xmlns:a="http://schemas.openxmlformats.org/drawingml/2006/main">
              <a:ext uri="{FF2B5EF4-FFF2-40B4-BE49-F238E27FC236}">
                <a16:creationId xmlns:a16="http://schemas.microsoft.com/office/drawing/2014/main" id="{CD2733D0-ADC7-4D08-904E-ADABDB93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814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repo context</a:t>
            </a:r>
          </a:p>
        </p:txBody>
      </p:sp>
      <p:sp>
        <p:nvSpPr>
          <p:cNvPr id="16" name="They often lose-mark-2">
            <a:extLst xmlns:a="http://schemas.openxmlformats.org/drawingml/2006/main">
              <a:ext uri="{FF2B5EF4-FFF2-40B4-BE49-F238E27FC236}">
                <a16:creationId xmlns:a16="http://schemas.microsoft.com/office/drawing/2014/main" id="{BEF2A10B-81A4-46CC-AFE6-5F941F7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386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7" name="They often lose-item-2">
            <a:extLst xmlns:a="http://schemas.openxmlformats.org/drawingml/2006/main">
              <a:ext uri="{FF2B5EF4-FFF2-40B4-BE49-F238E27FC236}">
                <a16:creationId xmlns:a16="http://schemas.microsoft.com/office/drawing/2014/main" id="{3989906B-95CD-4142-BC38-19C18BB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386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invariants</a:t>
            </a:r>
          </a:p>
        </p:txBody>
      </p:sp>
      <p:sp>
        <p:nvSpPr>
          <p:cNvPr id="18" name="They often lose-mark-3">
            <a:extLst xmlns:a="http://schemas.openxmlformats.org/drawingml/2006/main">
              <a:ext uri="{FF2B5EF4-FFF2-40B4-BE49-F238E27FC236}">
                <a16:creationId xmlns:a16="http://schemas.microsoft.com/office/drawing/2014/main" id="{47B6D1D7-1CE8-4EF1-8E90-42C97D2B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76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9" name="They often lose-item-3">
            <a:extLst xmlns:a="http://schemas.openxmlformats.org/drawingml/2006/main">
              <a:ext uri="{FF2B5EF4-FFF2-40B4-BE49-F238E27FC236}">
                <a16:creationId xmlns:a16="http://schemas.microsoft.com/office/drawing/2014/main" id="{1EC5F5FE-09F6-4BEA-AC9D-97F62CF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7680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proof obligations</a:t>
            </a:r>
          </a:p>
        </p:txBody>
      </p:sp>
      <p:sp>
        <p:nvSpPr>
          <p:cNvPr id="20" name="They often lose-mark-4">
            <a:extLst xmlns:a="http://schemas.openxmlformats.org/drawingml/2006/main">
              <a:ext uri="{FF2B5EF4-FFF2-40B4-BE49-F238E27FC236}">
                <a16:creationId xmlns:a16="http://schemas.microsoft.com/office/drawing/2014/main" id="{9EFC2ECC-F0C9-4203-BC55-09B4955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149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21" name="They often lose-item-4">
            <a:extLst xmlns:a="http://schemas.openxmlformats.org/drawingml/2006/main">
              <a:ext uri="{FF2B5EF4-FFF2-40B4-BE49-F238E27FC236}">
                <a16:creationId xmlns:a16="http://schemas.microsoft.com/office/drawing/2014/main" id="{B2D22EEE-3FEB-4BDA-ABCE-C7D6D77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149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handoff state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4373397B-A836-4707-AF5A-524CB4DD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Core claim: the failure is not code generation; it is continuity around the generated work.</a:t>
            </a:r>
          </a:p>
        </p:txBody>
      </p:sp>
    </p:spTree>
    <p:extLst>
      <p:ext uri="{BB962C8B-B14F-4D97-AF65-F5344CB8AC3E}">
        <p14:creationId xmlns:p14="http://schemas.microsoft.com/office/powerpoint/2010/main" val="792449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79E78F5-77AF-431C-AFAF-29114F6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MENTAL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0089D5-B0D5-405A-9781-42238549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71247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AI coding agents are consultants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66F865-9C32-43ED-87A3-8F5231B2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8915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Temporary contributors need onboarding, boundaries, review expectations, and handoff.</a:t>
            </a:r>
          </a:p>
        </p:txBody>
      </p:sp>
      <p:sp>
        <p:nvSpPr>
          <p:cNvPr id="4" name="Consultant problem-label">
            <a:extLst xmlns:a="http://schemas.openxmlformats.org/drawingml/2006/main">
              <a:ext uri="{FF2B5EF4-FFF2-40B4-BE49-F238E27FC236}">
                <a16:creationId xmlns:a16="http://schemas.microsoft.com/office/drawing/2014/main" id="{0B569AE7-B8A0-422D-9E00-8776B063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581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CONSULTANT PROBLEM</a:t>
            </a:r>
          </a:p>
        </p:txBody>
      </p:sp>
      <p:sp>
        <p:nvSpPr>
          <p:cNvPr id="5" name="Consultant problem-mark-0">
            <a:extLst xmlns:a="http://schemas.openxmlformats.org/drawingml/2006/main">
              <a:ext uri="{FF2B5EF4-FFF2-40B4-BE49-F238E27FC236}">
                <a16:creationId xmlns:a16="http://schemas.microsoft.com/office/drawing/2014/main" id="{DEF9246F-95BE-47CF-B6B3-0E78B3F2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6" name="Consultant problem-item-0">
            <a:extLst xmlns:a="http://schemas.openxmlformats.org/drawingml/2006/main">
              <a:ext uri="{FF2B5EF4-FFF2-40B4-BE49-F238E27FC236}">
                <a16:creationId xmlns:a16="http://schemas.microsoft.com/office/drawing/2014/main" id="{151DC3C4-FD24-4BB1-B346-0D5892E5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onboarding cost</a:t>
            </a:r>
          </a:p>
        </p:txBody>
      </p:sp>
      <p:sp>
        <p:nvSpPr>
          <p:cNvPr id="7" name="Consultant problem-mark-1">
            <a:extLst xmlns:a="http://schemas.openxmlformats.org/drawingml/2006/main">
              <a:ext uri="{FF2B5EF4-FFF2-40B4-BE49-F238E27FC236}">
                <a16:creationId xmlns:a16="http://schemas.microsoft.com/office/drawing/2014/main" id="{FB87A7D7-1EAD-4CDB-B5A4-82327FBA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8" name="Consultant problem-item-1">
            <a:extLst xmlns:a="http://schemas.openxmlformats.org/drawingml/2006/main">
              <a:ext uri="{FF2B5EF4-FFF2-40B4-BE49-F238E27FC236}">
                <a16:creationId xmlns:a16="http://schemas.microsoft.com/office/drawing/2014/main" id="{669FF883-2797-4A67-B7C9-F7C46CA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knowledge-transfer gaps</a:t>
            </a:r>
          </a:p>
        </p:txBody>
      </p:sp>
      <p:sp>
        <p:nvSpPr>
          <p:cNvPr id="9" name="Consultant problem-mark-2">
            <a:extLst xmlns:a="http://schemas.openxmlformats.org/drawingml/2006/main">
              <a:ext uri="{FF2B5EF4-FFF2-40B4-BE49-F238E27FC236}">
                <a16:creationId xmlns:a16="http://schemas.microsoft.com/office/drawing/2014/main" id="{C65FA3BE-8620-4C2B-91A0-3AED33C6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10" name="Consultant problem-item-2">
            <a:extLst xmlns:a="http://schemas.openxmlformats.org/drawingml/2006/main">
              <a:ext uri="{FF2B5EF4-FFF2-40B4-BE49-F238E27FC236}">
                <a16:creationId xmlns:a16="http://schemas.microsoft.com/office/drawing/2014/main" id="{CCF283D7-E906-4F04-B0FB-AAF63A97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local conventions missed</a:t>
            </a:r>
          </a:p>
        </p:txBody>
      </p:sp>
      <p:sp>
        <p:nvSpPr>
          <p:cNvPr id="11" name="Consultant problem-mark-3">
            <a:extLst xmlns:a="http://schemas.openxmlformats.org/drawingml/2006/main">
              <a:ext uri="{FF2B5EF4-FFF2-40B4-BE49-F238E27FC236}">
                <a16:creationId xmlns:a16="http://schemas.microsoft.com/office/drawing/2014/main" id="{93CD1047-B946-4B29-B085-B5D91A6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12" name="Consultant problem-item-3">
            <a:extLst xmlns:a="http://schemas.openxmlformats.org/drawingml/2006/main">
              <a:ext uri="{FF2B5EF4-FFF2-40B4-BE49-F238E27FC236}">
                <a16:creationId xmlns:a16="http://schemas.microsoft.com/office/drawing/2014/main" id="{C469FE3A-7DBD-49F2-A272-F03B2C88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handoff quality varies</a:t>
            </a:r>
          </a:p>
        </p:txBody>
      </p:sp>
      <p:sp>
        <p:nvSpPr>
          <p:cNvPr id="13" name="consultant-arrow">
            <a:extLst xmlns:a="http://schemas.openxmlformats.org/drawingml/2006/main">
              <a:ext uri="{FF2B5EF4-FFF2-40B4-BE49-F238E27FC236}">
                <a16:creationId xmlns:a16="http://schemas.microsoft.com/office/drawing/2014/main" id="{85A03B5C-7DD0-4BDA-A94C-39E96DC3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857250" cy="596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B45309"/>
                </a:solidFill>
              </a:defRPr>
            </a:pPr>
            <a:r>
              <a:rPr sz="4800" b="1">
                <a:solidFill>
                  <a:srgbClr val="B45309"/>
                </a:solidFill>
              </a:rPr>
              <a:t>→</a:t>
            </a:r>
          </a:p>
        </p:txBody>
      </p:sp>
      <p:sp>
        <p:nvSpPr>
          <p:cNvPr id="14" name="AW response-label">
            <a:extLst xmlns:a="http://schemas.openxmlformats.org/drawingml/2006/main">
              <a:ext uri="{FF2B5EF4-FFF2-40B4-BE49-F238E27FC236}">
                <a16:creationId xmlns:a16="http://schemas.microsoft.com/office/drawing/2014/main" id="{BBC8AE87-14C0-46E0-BC6B-4B458B8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38500"/>
            <a:ext cx="581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AW RESPONSE</a:t>
            </a:r>
          </a:p>
        </p:txBody>
      </p:sp>
      <p:sp>
        <p:nvSpPr>
          <p:cNvPr id="15" name="AW response-mark-0">
            <a:extLst xmlns:a="http://schemas.openxmlformats.org/drawingml/2006/main">
              <a:ext uri="{FF2B5EF4-FFF2-40B4-BE49-F238E27FC236}">
                <a16:creationId xmlns:a16="http://schemas.microsoft.com/office/drawing/2014/main" id="{B876F5B7-5394-48BE-AEA0-38D037F7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6" name="AW response-item-0">
            <a:extLst xmlns:a="http://schemas.openxmlformats.org/drawingml/2006/main">
              <a:ext uri="{FF2B5EF4-FFF2-40B4-BE49-F238E27FC236}">
                <a16:creationId xmlns:a16="http://schemas.microsoft.com/office/drawing/2014/main" id="{35BBB6F1-DDA7-4E0C-A308-DABA475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433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startup routing</a:t>
            </a:r>
          </a:p>
        </p:txBody>
      </p:sp>
      <p:sp>
        <p:nvSpPr>
          <p:cNvPr id="17" name="AW response-mark-1">
            <a:extLst xmlns:a="http://schemas.openxmlformats.org/drawingml/2006/main">
              <a:ext uri="{FF2B5EF4-FFF2-40B4-BE49-F238E27FC236}">
                <a16:creationId xmlns:a16="http://schemas.microsoft.com/office/drawing/2014/main" id="{2830F925-8412-432E-8D38-F8505444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8" name="AW response-item-1">
            <a:extLst xmlns:a="http://schemas.openxmlformats.org/drawingml/2006/main">
              <a:ext uri="{FF2B5EF4-FFF2-40B4-BE49-F238E27FC236}">
                <a16:creationId xmlns:a16="http://schemas.microsoft.com/office/drawing/2014/main" id="{3F13F8B5-5693-438E-ACE0-0DA1F7D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624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Memory</a:t>
            </a:r>
          </a:p>
        </p:txBody>
      </p:sp>
      <p:sp>
        <p:nvSpPr>
          <p:cNvPr id="19" name="AW response-mark-2">
            <a:extLst xmlns:a="http://schemas.openxmlformats.org/drawingml/2006/main">
              <a:ext uri="{FF2B5EF4-FFF2-40B4-BE49-F238E27FC236}">
                <a16:creationId xmlns:a16="http://schemas.microsoft.com/office/drawing/2014/main" id="{23DDBEE2-1327-43C2-B5F4-DA2A310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381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0" name="AW response-item-2">
            <a:extLst xmlns:a="http://schemas.openxmlformats.org/drawingml/2006/main">
              <a:ext uri="{FF2B5EF4-FFF2-40B4-BE49-F238E27FC236}">
                <a16:creationId xmlns:a16="http://schemas.microsoft.com/office/drawing/2014/main" id="{F80D49F1-CA48-4C74-8EE8-79EC975B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815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Planning</a:t>
            </a:r>
          </a:p>
        </p:txBody>
      </p:sp>
      <p:sp>
        <p:nvSpPr>
          <p:cNvPr id="21" name="AW response-mark-3">
            <a:extLst xmlns:a="http://schemas.openxmlformats.org/drawingml/2006/main">
              <a:ext uri="{FF2B5EF4-FFF2-40B4-BE49-F238E27FC236}">
                <a16:creationId xmlns:a16="http://schemas.microsoft.com/office/drawing/2014/main" id="{A85C30B8-271F-4DE3-9C17-55CE58D6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800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2" name="AW response-item-3">
            <a:extLst xmlns:a="http://schemas.openxmlformats.org/drawingml/2006/main">
              <a:ext uri="{FF2B5EF4-FFF2-40B4-BE49-F238E27FC236}">
                <a16:creationId xmlns:a16="http://schemas.microsoft.com/office/drawing/2014/main" id="{E4F5DC87-6FA6-48FE-879C-4AEC217E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006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ownership ledgers</a:t>
            </a:r>
          </a:p>
        </p:txBody>
      </p:sp>
      <p:sp>
        <p:nvSpPr>
          <p:cNvPr id="23" name="AW response-mark-4">
            <a:extLst xmlns:a="http://schemas.openxmlformats.org/drawingml/2006/main">
              <a:ext uri="{FF2B5EF4-FFF2-40B4-BE49-F238E27FC236}">
                <a16:creationId xmlns:a16="http://schemas.microsoft.com/office/drawing/2014/main" id="{5B05EAA3-8F87-489E-88DC-1E4129C3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2197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4" name="AW response-item-4">
            <a:extLst xmlns:a="http://schemas.openxmlformats.org/drawingml/2006/main">
              <a:ext uri="{FF2B5EF4-FFF2-40B4-BE49-F238E27FC236}">
                <a16:creationId xmlns:a16="http://schemas.microsoft.com/office/drawing/2014/main" id="{D66F152E-7C10-4079-A4A1-3C96483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197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proof routing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9FEF5948-B4BC-4302-A933-89A33289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The agent can do real work; the repo needs an operating structure that makes temporary work cumulative.</a:t>
            </a:r>
          </a:p>
        </p:txBody>
      </p:sp>
    </p:spTree>
    <p:extLst>
      <p:ext uri="{BB962C8B-B14F-4D97-AF65-F5344CB8AC3E}">
        <p14:creationId xmlns:p14="http://schemas.microsoft.com/office/powerpoint/2010/main" val="18022535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4EA04A1-E60F-48E1-8D2C-92AC8F1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WHAT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054810-2BFA-4A1B-B7C8-D009134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96583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Move agent operating context into the repo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FB9246-36C4-4562-B9BB-90DF692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8782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Agent platforms optimize the current session. AW optimizes durable repository context.</a:t>
            </a:r>
          </a:p>
        </p:txBody>
      </p:sp>
      <p:sp>
        <p:nvSpPr>
          <p:cNvPr id="4" name="quote-rule">
            <a:extLst xmlns:a="http://schemas.openxmlformats.org/drawingml/2006/main">
              <a:ext uri="{FF2B5EF4-FFF2-40B4-BE49-F238E27FC236}">
                <a16:creationId xmlns:a16="http://schemas.microsoft.com/office/drawing/2014/main" id="{CE1192B2-26E0-48E6-BD00-FDFA20B2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big-quote-main">
            <a:extLst xmlns:a="http://schemas.openxmlformats.org/drawingml/2006/main">
              <a:ext uri="{FF2B5EF4-FFF2-40B4-BE49-F238E27FC236}">
                <a16:creationId xmlns:a16="http://schemas.microsoft.com/office/drawing/2014/main" id="{564CF209-C9C8-4958-8725-CE8E06F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Agent platforms help an agent work. AW helps the repo remember, route, bound, prove, and continue that work.</a:t>
            </a:r>
          </a:p>
        </p:txBody>
      </p:sp>
      <p:sp>
        <p:nvSpPr>
          <p:cNvPr id="6" name="big-quote-sub">
            <a:extLst xmlns:a="http://schemas.openxmlformats.org/drawingml/2006/main">
              <a:ext uri="{FF2B5EF4-FFF2-40B4-BE49-F238E27FC236}">
                <a16:creationId xmlns:a16="http://schemas.microsoft.com/office/drawing/2014/main" id="{F06A4F3F-93DC-4E40-AB9E-47A714B7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62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goal is synergy: keep native agent capabilities, but promote durable decisions into shared repo state.</a:t>
            </a:r>
          </a:p>
        </p:txBody>
      </p:sp>
    </p:spTree>
    <p:extLst>
      <p:ext uri="{BB962C8B-B14F-4D97-AF65-F5344CB8AC3E}">
        <p14:creationId xmlns:p14="http://schemas.microsoft.com/office/powerpoint/2010/main" val="368678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DC2643B-7B00-4CDB-9A24-55E1207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34382-3648-43B1-A1B0-45958B12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22301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Make the correct operating path cheaper than guessing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D02529-B404-4437-8EAB-6CDD7ABA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619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 small loop turns chat-local work into repo-visible continuity.</a:t>
            </a:r>
          </a:p>
        </p:txBody>
      </p:sp>
      <p:sp>
        <p:nvSpPr>
          <p:cNvPr id="4" name="start-step-label">
            <a:extLst xmlns:a="http://schemas.openxmlformats.org/drawingml/2006/main">
              <a:ext uri="{FF2B5EF4-FFF2-40B4-BE49-F238E27FC236}">
                <a16:creationId xmlns:a16="http://schemas.microsoft.com/office/drawing/2014/main" id="{BB83D0A0-2F9E-49D9-B453-3ABFB33C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start</a:t>
            </a:r>
          </a:p>
        </p:txBody>
      </p:sp>
      <p:sp>
        <p:nvSpPr>
          <p:cNvPr id="5" name="start-step-detail">
            <a:extLst xmlns:a="http://schemas.openxmlformats.org/drawingml/2006/main">
              <a:ext uri="{FF2B5EF4-FFF2-40B4-BE49-F238E27FC236}">
                <a16:creationId xmlns:a16="http://schemas.microsoft.com/office/drawing/2014/main" id="{688D872E-F664-4F5D-9D1C-D83F61D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419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thin adapter + compact context</a:t>
            </a:r>
          </a:p>
        </p:txBody>
      </p:sp>
      <p:sp>
        <p:nvSpPr>
          <p:cNvPr id="6" name="route-step-label">
            <a:extLst xmlns:a="http://schemas.openxmlformats.org/drawingml/2006/main">
              <a:ext uri="{FF2B5EF4-FFF2-40B4-BE49-F238E27FC236}">
                <a16:creationId xmlns:a16="http://schemas.microsoft.com/office/drawing/2014/main" id="{0E00543C-AADA-4D1F-842A-69CB3CE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route</a:t>
            </a:r>
          </a:p>
        </p:txBody>
      </p:sp>
      <p:sp>
        <p:nvSpPr>
          <p:cNvPr id="7" name="route-step-detail">
            <a:extLst xmlns:a="http://schemas.openxmlformats.org/drawingml/2006/main">
              <a:ext uri="{FF2B5EF4-FFF2-40B4-BE49-F238E27FC236}">
                <a16:creationId xmlns:a16="http://schemas.microsoft.com/office/drawing/2014/main" id="{06217EA9-B609-4191-89C7-42228BB1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config, Memory, Planning, proof</a:t>
            </a:r>
          </a:p>
        </p:txBody>
      </p:sp>
      <p:sp>
        <p:nvSpPr>
          <p:cNvPr id="8" name="work-step-label">
            <a:extLst xmlns:a="http://schemas.openxmlformats.org/drawingml/2006/main">
              <a:ext uri="{FF2B5EF4-FFF2-40B4-BE49-F238E27FC236}">
                <a16:creationId xmlns:a16="http://schemas.microsoft.com/office/drawing/2014/main" id="{9C8E469C-62C8-4BAC-A567-D6CFAA93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D28D9"/>
                </a:solidFill>
              </a:defRPr>
            </a:pPr>
            <a:r>
              <a:rPr sz="2325" b="1">
                <a:solidFill>
                  <a:srgbClr val="6D28D9"/>
                </a:solidFill>
              </a:rPr>
              <a:t>work</a:t>
            </a:r>
          </a:p>
        </p:txBody>
      </p:sp>
      <p:sp>
        <p:nvSpPr>
          <p:cNvPr id="9" name="work-step-detail">
            <a:extLst xmlns:a="http://schemas.openxmlformats.org/drawingml/2006/main">
              <a:ext uri="{FF2B5EF4-FFF2-40B4-BE49-F238E27FC236}">
                <a16:creationId xmlns:a16="http://schemas.microsoft.com/office/drawing/2014/main" id="{C25590EC-4B3C-4BBD-96AE-63247FA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766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bounded scope and ownership</a:t>
            </a:r>
          </a:p>
        </p:txBody>
      </p:sp>
      <p:sp>
        <p:nvSpPr>
          <p:cNvPr id="10" name="prove-step-label">
            <a:extLst xmlns:a="http://schemas.openxmlformats.org/drawingml/2006/main">
              <a:ext uri="{FF2B5EF4-FFF2-40B4-BE49-F238E27FC236}">
                <a16:creationId xmlns:a16="http://schemas.microsoft.com/office/drawing/2014/main" id="{A02BF8F9-E6C9-4D6C-AC9B-7D144F45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5309"/>
                </a:solidFill>
              </a:defRPr>
            </a:pPr>
            <a:r>
              <a:rPr sz="2325" b="1">
                <a:solidFill>
                  <a:srgbClr val="B45309"/>
                </a:solidFill>
              </a:rPr>
              <a:t>prove</a:t>
            </a:r>
          </a:p>
        </p:txBody>
      </p:sp>
      <p:sp>
        <p:nvSpPr>
          <p:cNvPr id="11" name="prove-step-detail">
            <a:extLst xmlns:a="http://schemas.openxmlformats.org/drawingml/2006/main">
              <a:ext uri="{FF2B5EF4-FFF2-40B4-BE49-F238E27FC236}">
                <a16:creationId xmlns:a16="http://schemas.microsoft.com/office/drawing/2014/main" id="{2F500EF6-C2F5-4BEE-A006-849074F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76650"/>
            <a:ext cx="186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changed-path validation</a:t>
            </a:r>
          </a:p>
        </p:txBody>
      </p:sp>
      <p:sp>
        <p:nvSpPr>
          <p:cNvPr id="12" name="close-step-label">
            <a:extLst xmlns:a="http://schemas.openxmlformats.org/drawingml/2006/main">
              <a:ext uri="{FF2B5EF4-FFF2-40B4-BE49-F238E27FC236}">
                <a16:creationId xmlns:a16="http://schemas.microsoft.com/office/drawing/2014/main" id="{503AD5EA-8060-4CF1-A113-AD46878C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91C1C"/>
                </a:solidFill>
              </a:defRPr>
            </a:pPr>
            <a:r>
              <a:rPr sz="2325" b="1">
                <a:solidFill>
                  <a:srgbClr val="B91C1C"/>
                </a:solidFill>
              </a:rPr>
              <a:t>close</a:t>
            </a:r>
          </a:p>
        </p:txBody>
      </p:sp>
      <p:sp>
        <p:nvSpPr>
          <p:cNvPr id="13" name="close-step-detail">
            <a:extLst xmlns:a="http://schemas.openxmlformats.org/drawingml/2006/main">
              <a:ext uri="{FF2B5EF4-FFF2-40B4-BE49-F238E27FC236}">
                <a16:creationId xmlns:a16="http://schemas.microsoft.com/office/drawing/2014/main" id="{E36F6799-6FCA-4211-BFBA-BD27AB9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6766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intent, proof, residue, next owner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E1FE42F-7A84-429B-81E5-6896E781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This is steering by context, constraints, proof, and continuation; not scripting every action.</a:t>
            </a:r>
          </a:p>
        </p:txBody>
      </p:sp>
    </p:spTree>
    <p:extLst>
      <p:ext uri="{BB962C8B-B14F-4D97-AF65-F5344CB8AC3E}">
        <p14:creationId xmlns:p14="http://schemas.microsoft.com/office/powerpoint/2010/main" val="2192588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5BEAD25-1FBE-45F0-999D-461EB2E1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8DA79E-558C-4DD3-86D7-368C094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71056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Assurance should scale with risk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AAECD0-401E-4000-9A7D-E1F4CBF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1125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AW routes agents toward the smallest credible proof, then raises the burden when scope or blast radius grows.</a:t>
            </a:r>
          </a:p>
        </p:txBody>
      </p:sp>
      <p:sp>
        <p:nvSpPr>
          <p:cNvPr id="4" name="Low risk-label">
            <a:extLst xmlns:a="http://schemas.openxmlformats.org/drawingml/2006/main">
              <a:ext uri="{FF2B5EF4-FFF2-40B4-BE49-F238E27FC236}">
                <a16:creationId xmlns:a16="http://schemas.microsoft.com/office/drawing/2014/main" id="{78E36AB0-FD15-41E4-84FF-5AB7AC2C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LOW RISK</a:t>
            </a:r>
          </a:p>
        </p:txBody>
      </p:sp>
      <p:sp>
        <p:nvSpPr>
          <p:cNvPr id="5" name="Low risk-mark-0">
            <a:extLst xmlns:a="http://schemas.openxmlformats.org/drawingml/2006/main">
              <a:ext uri="{FF2B5EF4-FFF2-40B4-BE49-F238E27FC236}">
                <a16:creationId xmlns:a16="http://schemas.microsoft.com/office/drawing/2014/main" id="{454B2C4D-EA61-420A-9356-17427B88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6" name="Low risk-item-0">
            <a:extLst xmlns:a="http://schemas.openxmlformats.org/drawingml/2006/main">
              <a:ext uri="{FF2B5EF4-FFF2-40B4-BE49-F238E27FC236}">
                <a16:creationId xmlns:a16="http://schemas.microsoft.com/office/drawing/2014/main" id="{02D8CF68-8AF5-463F-90A1-468F6258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local edit</a:t>
            </a:r>
          </a:p>
        </p:txBody>
      </p:sp>
      <p:sp>
        <p:nvSpPr>
          <p:cNvPr id="7" name="Low risk-mark-1">
            <a:extLst xmlns:a="http://schemas.openxmlformats.org/drawingml/2006/main">
              <a:ext uri="{FF2B5EF4-FFF2-40B4-BE49-F238E27FC236}">
                <a16:creationId xmlns:a16="http://schemas.microsoft.com/office/drawing/2014/main" id="{587F7048-AE0D-49ED-94D1-0A0A010F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8" name="Low risk-item-1">
            <a:extLst xmlns:a="http://schemas.openxmlformats.org/drawingml/2006/main">
              <a:ext uri="{FF2B5EF4-FFF2-40B4-BE49-F238E27FC236}">
                <a16:creationId xmlns:a16="http://schemas.microsoft.com/office/drawing/2014/main" id="{5BAAB7D9-FF39-4266-8485-74B51AF9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known owner</a:t>
            </a:r>
          </a:p>
        </p:txBody>
      </p:sp>
      <p:sp>
        <p:nvSpPr>
          <p:cNvPr id="9" name="Low risk-mark-2">
            <a:extLst xmlns:a="http://schemas.openxmlformats.org/drawingml/2006/main">
              <a:ext uri="{FF2B5EF4-FFF2-40B4-BE49-F238E27FC236}">
                <a16:creationId xmlns:a16="http://schemas.microsoft.com/office/drawing/2014/main" id="{7E6D7623-2CDA-45BD-9E56-7465CAAC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0" name="Low risk-item-2">
            <a:extLst xmlns:a="http://schemas.openxmlformats.org/drawingml/2006/main">
              <a:ext uri="{FF2B5EF4-FFF2-40B4-BE49-F238E27FC236}">
                <a16:creationId xmlns:a16="http://schemas.microsoft.com/office/drawing/2014/main" id="{6EC0498A-B226-4AB6-B060-2134374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clear intent</a:t>
            </a:r>
          </a:p>
        </p:txBody>
      </p:sp>
      <p:sp>
        <p:nvSpPr>
          <p:cNvPr id="11" name="Low risk-mark-3">
            <a:extLst xmlns:a="http://schemas.openxmlformats.org/drawingml/2006/main">
              <a:ext uri="{FF2B5EF4-FFF2-40B4-BE49-F238E27FC236}">
                <a16:creationId xmlns:a16="http://schemas.microsoft.com/office/drawing/2014/main" id="{2C800B80-7842-41AB-9044-525D9444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2" name="Low risk-item-3">
            <a:extLst xmlns:a="http://schemas.openxmlformats.org/drawingml/2006/main">
              <a:ext uri="{FF2B5EF4-FFF2-40B4-BE49-F238E27FC236}">
                <a16:creationId xmlns:a16="http://schemas.microsoft.com/office/drawing/2014/main" id="{7968F19C-1074-4600-88EF-AF3FCB74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455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cheap proof</a:t>
            </a:r>
          </a:p>
        </p:txBody>
      </p:sp>
      <p:sp>
        <p:nvSpPr>
          <p:cNvPr id="13" name="assurance-arrow">
            <a:extLst xmlns:a="http://schemas.openxmlformats.org/drawingml/2006/main">
              <a:ext uri="{FF2B5EF4-FFF2-40B4-BE49-F238E27FC236}">
                <a16:creationId xmlns:a16="http://schemas.microsoft.com/office/drawing/2014/main" id="{7DBD5183-9963-48C2-BE98-B632F35C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857250" cy="596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B45309"/>
                </a:solidFill>
              </a:defRPr>
            </a:pPr>
            <a:r>
              <a:rPr sz="4800" b="1">
                <a:solidFill>
                  <a:srgbClr val="B45309"/>
                </a:solidFill>
              </a:rPr>
              <a:t>→</a:t>
            </a:r>
          </a:p>
        </p:txBody>
      </p:sp>
      <p:sp>
        <p:nvSpPr>
          <p:cNvPr id="14" name="Raise assurance-label">
            <a:extLst xmlns:a="http://schemas.openxmlformats.org/drawingml/2006/main">
              <a:ext uri="{FF2B5EF4-FFF2-40B4-BE49-F238E27FC236}">
                <a16:creationId xmlns:a16="http://schemas.microsoft.com/office/drawing/2014/main" id="{C969E839-DE57-4E45-A085-DA3B6537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685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RAISE ASSURANCE</a:t>
            </a:r>
          </a:p>
        </p:txBody>
      </p:sp>
      <p:sp>
        <p:nvSpPr>
          <p:cNvPr id="15" name="Raise assurance-mark-0">
            <a:extLst xmlns:a="http://schemas.openxmlformats.org/drawingml/2006/main">
              <a:ext uri="{FF2B5EF4-FFF2-40B4-BE49-F238E27FC236}">
                <a16:creationId xmlns:a16="http://schemas.microsoft.com/office/drawing/2014/main" id="{6055BF18-DAF0-4B47-A70E-ED3797C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16" name="Raise assurance-item-0">
            <a:extLst xmlns:a="http://schemas.openxmlformats.org/drawingml/2006/main">
              <a:ext uri="{FF2B5EF4-FFF2-40B4-BE49-F238E27FC236}">
                <a16:creationId xmlns:a16="http://schemas.microsoft.com/office/drawing/2014/main" id="{28AE8FE4-FD32-4F9A-BD6A-D150894E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433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cross-boundary work</a:t>
            </a:r>
          </a:p>
        </p:txBody>
      </p:sp>
      <p:sp>
        <p:nvSpPr>
          <p:cNvPr id="17" name="Raise assurance-mark-1">
            <a:extLst xmlns:a="http://schemas.openxmlformats.org/drawingml/2006/main">
              <a:ext uri="{FF2B5EF4-FFF2-40B4-BE49-F238E27FC236}">
                <a16:creationId xmlns:a16="http://schemas.microsoft.com/office/drawing/2014/main" id="{4F4350EB-6910-4004-B89A-F0F7F6B4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18" name="Raise assurance-item-1">
            <a:extLst xmlns:a="http://schemas.openxmlformats.org/drawingml/2006/main">
              <a:ext uri="{FF2B5EF4-FFF2-40B4-BE49-F238E27FC236}">
                <a16:creationId xmlns:a16="http://schemas.microsoft.com/office/drawing/2014/main" id="{B81D3CBD-E6DA-47C1-B9CE-0AC1A55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624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unclear ownership</a:t>
            </a:r>
          </a:p>
        </p:txBody>
      </p:sp>
      <p:sp>
        <p:nvSpPr>
          <p:cNvPr id="19" name="Raise assurance-mark-2">
            <a:extLst xmlns:a="http://schemas.openxmlformats.org/drawingml/2006/main">
              <a:ext uri="{FF2B5EF4-FFF2-40B4-BE49-F238E27FC236}">
                <a16:creationId xmlns:a16="http://schemas.microsoft.com/office/drawing/2014/main" id="{D4127056-EB89-4E4F-8F7D-6C15603F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20" name="Raise assurance-item-2">
            <a:extLst xmlns:a="http://schemas.openxmlformats.org/drawingml/2006/main">
              <a:ext uri="{FF2B5EF4-FFF2-40B4-BE49-F238E27FC236}">
                <a16:creationId xmlns:a16="http://schemas.microsoft.com/office/drawing/2014/main" id="{FF33854A-F32A-4913-826B-9F4AFCA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3815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migration or policy risk</a:t>
            </a:r>
          </a:p>
        </p:txBody>
      </p:sp>
      <p:sp>
        <p:nvSpPr>
          <p:cNvPr id="21" name="Raise assurance-mark-3">
            <a:extLst xmlns:a="http://schemas.openxmlformats.org/drawingml/2006/main">
              <a:ext uri="{FF2B5EF4-FFF2-40B4-BE49-F238E27FC236}">
                <a16:creationId xmlns:a16="http://schemas.microsoft.com/office/drawing/2014/main" id="{08C06E0B-E60A-4D11-915B-45D02335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00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—</a:t>
            </a:r>
          </a:p>
        </p:txBody>
      </p:sp>
      <p:sp>
        <p:nvSpPr>
          <p:cNvPr id="22" name="Raise assurance-item-3">
            <a:extLst xmlns:a="http://schemas.openxmlformats.org/drawingml/2006/main">
              <a:ext uri="{FF2B5EF4-FFF2-40B4-BE49-F238E27FC236}">
                <a16:creationId xmlns:a16="http://schemas.microsoft.com/office/drawing/2014/main" id="{6BDB67F8-BD4C-4512-8A3B-AB77ADDD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006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larger proof surface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708589E2-54C8-4698-911C-9F52651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The control model is adaptive: avoid ritual for trivial work, but make risk visible before it becomes rework.</a:t>
            </a:r>
          </a:p>
        </p:txBody>
      </p:sp>
    </p:spTree>
    <p:extLst>
      <p:ext uri="{BB962C8B-B14F-4D97-AF65-F5344CB8AC3E}">
        <p14:creationId xmlns:p14="http://schemas.microsoft.com/office/powerpoint/2010/main" val="15727358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480A202-52D8-4B93-94F6-53C1FAF2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3D9820-A5A3-43C6-A89D-3A683C9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96774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Three primary surfaces do most of the 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3E9932-E1D7-4AA4-A492-43C72A0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115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Workspace routes. Memory preserves durable knowledge. Planning preserves active execution state.</a:t>
            </a:r>
          </a:p>
        </p:txBody>
      </p:sp>
      <p:sp>
        <p:nvSpPr>
          <p:cNvPr id="4" name="Workspace-label">
            <a:extLst xmlns:a="http://schemas.openxmlformats.org/drawingml/2006/main">
              <a:ext uri="{FF2B5EF4-FFF2-40B4-BE49-F238E27FC236}">
                <a16:creationId xmlns:a16="http://schemas.microsoft.com/office/drawing/2014/main" id="{4439CF18-E56B-40CE-9E8D-A6DA7240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WORKSPACE</a:t>
            </a:r>
          </a:p>
        </p:txBody>
      </p:sp>
      <p:sp>
        <p:nvSpPr>
          <p:cNvPr id="5" name="Workspace-mark-0">
            <a:extLst xmlns:a="http://schemas.openxmlformats.org/drawingml/2006/main">
              <a:ext uri="{FF2B5EF4-FFF2-40B4-BE49-F238E27FC236}">
                <a16:creationId xmlns:a16="http://schemas.microsoft.com/office/drawing/2014/main" id="{3E385AD1-26E2-46C3-A059-5DB0540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6" name="Workspace-item-0">
            <a:extLst xmlns:a="http://schemas.openxmlformats.org/drawingml/2006/main">
              <a:ext uri="{FF2B5EF4-FFF2-40B4-BE49-F238E27FC236}">
                <a16:creationId xmlns:a16="http://schemas.microsoft.com/office/drawing/2014/main" id="{6988CE11-3C90-4EFB-8DD6-2A3D0184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startup</a:t>
            </a:r>
          </a:p>
        </p:txBody>
      </p:sp>
      <p:sp>
        <p:nvSpPr>
          <p:cNvPr id="7" name="Workspace-mark-1">
            <a:extLst xmlns:a="http://schemas.openxmlformats.org/drawingml/2006/main">
              <a:ext uri="{FF2B5EF4-FFF2-40B4-BE49-F238E27FC236}">
                <a16:creationId xmlns:a16="http://schemas.microsoft.com/office/drawing/2014/main" id="{CC192E35-B288-45B5-B76E-BE849361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8" name="Workspace-item-1">
            <a:extLst xmlns:a="http://schemas.openxmlformats.org/drawingml/2006/main">
              <a:ext uri="{FF2B5EF4-FFF2-40B4-BE49-F238E27FC236}">
                <a16:creationId xmlns:a16="http://schemas.microsoft.com/office/drawing/2014/main" id="{D67ABF45-E5EA-4BA6-BA04-3370878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config</a:t>
            </a:r>
          </a:p>
        </p:txBody>
      </p:sp>
      <p:sp>
        <p:nvSpPr>
          <p:cNvPr id="9" name="Workspace-mark-2">
            <a:extLst xmlns:a="http://schemas.openxmlformats.org/drawingml/2006/main">
              <a:ext uri="{FF2B5EF4-FFF2-40B4-BE49-F238E27FC236}">
                <a16:creationId xmlns:a16="http://schemas.microsoft.com/office/drawing/2014/main" id="{8594C723-2A91-41C6-8985-B5F0CBF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0" name="Workspace-item-2">
            <a:extLst xmlns:a="http://schemas.openxmlformats.org/drawingml/2006/main">
              <a:ext uri="{FF2B5EF4-FFF2-40B4-BE49-F238E27FC236}">
                <a16:creationId xmlns:a16="http://schemas.microsoft.com/office/drawing/2014/main" id="{12E31DBC-ADA8-435D-B04D-E874566E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lifecycle</a:t>
            </a:r>
          </a:p>
        </p:txBody>
      </p:sp>
      <p:sp>
        <p:nvSpPr>
          <p:cNvPr id="11" name="Workspace-mark-3">
            <a:extLst xmlns:a="http://schemas.openxmlformats.org/drawingml/2006/main">
              <a:ext uri="{FF2B5EF4-FFF2-40B4-BE49-F238E27FC236}">
                <a16:creationId xmlns:a16="http://schemas.microsoft.com/office/drawing/2014/main" id="{148F9F0A-266E-43D5-BCF3-5C755E38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2" name="Workspace-item-3">
            <a:extLst xmlns:a="http://schemas.openxmlformats.org/drawingml/2006/main">
              <a:ext uri="{FF2B5EF4-FFF2-40B4-BE49-F238E27FC236}">
                <a16:creationId xmlns:a16="http://schemas.microsoft.com/office/drawing/2014/main" id="{8A88E9DB-86F7-4F7A-8A34-F0A54B6D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ownership</a:t>
            </a:r>
          </a:p>
        </p:txBody>
      </p:sp>
      <p:sp>
        <p:nvSpPr>
          <p:cNvPr id="13" name="Workspace-mark-4">
            <a:extLst xmlns:a="http://schemas.openxmlformats.org/drawingml/2006/main">
              <a:ext uri="{FF2B5EF4-FFF2-40B4-BE49-F238E27FC236}">
                <a16:creationId xmlns:a16="http://schemas.microsoft.com/office/drawing/2014/main" id="{2662CBA8-4890-4BF7-A991-1797261A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4" name="Workspace-item-4">
            <a:extLst xmlns:a="http://schemas.openxmlformats.org/drawingml/2006/main">
              <a:ext uri="{FF2B5EF4-FFF2-40B4-BE49-F238E27FC236}">
                <a16:creationId xmlns:a16="http://schemas.microsoft.com/office/drawing/2014/main" id="{847B42E2-D6C2-4793-8D21-CD3CEC7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proof</a:t>
            </a:r>
          </a:p>
        </p:txBody>
      </p:sp>
      <p:sp>
        <p:nvSpPr>
          <p:cNvPr id="15" name="Memory-label">
            <a:extLst xmlns:a="http://schemas.openxmlformats.org/drawingml/2006/main">
              <a:ext uri="{FF2B5EF4-FFF2-40B4-BE49-F238E27FC236}">
                <a16:creationId xmlns:a16="http://schemas.microsoft.com/office/drawing/2014/main" id="{4B38A4F7-51AB-47FC-82D9-089B74B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MEMORY</a:t>
            </a:r>
          </a:p>
        </p:txBody>
      </p:sp>
      <p:sp>
        <p:nvSpPr>
          <p:cNvPr id="16" name="Memory-mark-0">
            <a:extLst xmlns:a="http://schemas.openxmlformats.org/drawingml/2006/main">
              <a:ext uri="{FF2B5EF4-FFF2-40B4-BE49-F238E27FC236}">
                <a16:creationId xmlns:a16="http://schemas.microsoft.com/office/drawing/2014/main" id="{A629EE27-63C1-4B20-B9FC-2A41012C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7" name="Memory-item-0">
            <a:extLst xmlns:a="http://schemas.openxmlformats.org/drawingml/2006/main">
              <a:ext uri="{FF2B5EF4-FFF2-40B4-BE49-F238E27FC236}">
                <a16:creationId xmlns:a16="http://schemas.microsoft.com/office/drawing/2014/main" id="{9BC4A011-D227-49D7-9E45-45C82C9C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invariants</a:t>
            </a:r>
          </a:p>
        </p:txBody>
      </p:sp>
      <p:sp>
        <p:nvSpPr>
          <p:cNvPr id="18" name="Memory-mark-1">
            <a:extLst xmlns:a="http://schemas.openxmlformats.org/drawingml/2006/main">
              <a:ext uri="{FF2B5EF4-FFF2-40B4-BE49-F238E27FC236}">
                <a16:creationId xmlns:a16="http://schemas.microsoft.com/office/drawing/2014/main" id="{7003836B-9A44-452D-81FA-B66EAC84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9" name="Memory-item-1">
            <a:extLst xmlns:a="http://schemas.openxmlformats.org/drawingml/2006/main">
              <a:ext uri="{FF2B5EF4-FFF2-40B4-BE49-F238E27FC236}">
                <a16:creationId xmlns:a16="http://schemas.microsoft.com/office/drawing/2014/main" id="{5CE0D306-44F8-433E-82DE-18F3BE9D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traps</a:t>
            </a:r>
          </a:p>
        </p:txBody>
      </p:sp>
      <p:sp>
        <p:nvSpPr>
          <p:cNvPr id="20" name="Memory-mark-2">
            <a:extLst xmlns:a="http://schemas.openxmlformats.org/drawingml/2006/main">
              <a:ext uri="{FF2B5EF4-FFF2-40B4-BE49-F238E27FC236}">
                <a16:creationId xmlns:a16="http://schemas.microsoft.com/office/drawing/2014/main" id="{1D0E5156-634B-4159-B6F5-96C1558E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1" name="Memory-item-2">
            <a:extLst xmlns:a="http://schemas.openxmlformats.org/drawingml/2006/main">
              <a:ext uri="{FF2B5EF4-FFF2-40B4-BE49-F238E27FC236}">
                <a16:creationId xmlns:a16="http://schemas.microsoft.com/office/drawing/2014/main" id="{45339C0F-D292-4D83-8F37-929AFAE8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runbooks</a:t>
            </a:r>
          </a:p>
        </p:txBody>
      </p:sp>
      <p:sp>
        <p:nvSpPr>
          <p:cNvPr id="22" name="Memory-mark-3">
            <a:extLst xmlns:a="http://schemas.openxmlformats.org/drawingml/2006/main">
              <a:ext uri="{FF2B5EF4-FFF2-40B4-BE49-F238E27FC236}">
                <a16:creationId xmlns:a16="http://schemas.microsoft.com/office/drawing/2014/main" id="{4F82604F-4CD1-46CA-A26A-2DDAFC13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3" name="Memory-item-3">
            <a:extLst xmlns:a="http://schemas.openxmlformats.org/drawingml/2006/main">
              <a:ext uri="{FF2B5EF4-FFF2-40B4-BE49-F238E27FC236}">
                <a16:creationId xmlns:a16="http://schemas.microsoft.com/office/drawing/2014/main" id="{90E88566-0E9E-42E0-8EEA-F5F9C661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anti-rediscovery</a:t>
            </a:r>
          </a:p>
        </p:txBody>
      </p:sp>
      <p:sp>
        <p:nvSpPr>
          <p:cNvPr id="24" name="Memory-mark-4">
            <a:extLst xmlns:a="http://schemas.openxmlformats.org/drawingml/2006/main">
              <a:ext uri="{FF2B5EF4-FFF2-40B4-BE49-F238E27FC236}">
                <a16:creationId xmlns:a16="http://schemas.microsoft.com/office/drawing/2014/main" id="{6AEB1731-F009-422B-AA19-B62FD4A4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81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5" name="Memory-item-4">
            <a:extLst xmlns:a="http://schemas.openxmlformats.org/drawingml/2006/main">
              <a:ext uri="{FF2B5EF4-FFF2-40B4-BE49-F238E27FC236}">
                <a16:creationId xmlns:a16="http://schemas.microsoft.com/office/drawing/2014/main" id="{FC19CE5E-CF75-45B3-962D-FB33398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promotion pressure</a:t>
            </a:r>
          </a:p>
        </p:txBody>
      </p:sp>
      <p:sp>
        <p:nvSpPr>
          <p:cNvPr id="26" name="Planning-label">
            <a:extLst xmlns:a="http://schemas.openxmlformats.org/drawingml/2006/main">
              <a:ext uri="{FF2B5EF4-FFF2-40B4-BE49-F238E27FC236}">
                <a16:creationId xmlns:a16="http://schemas.microsoft.com/office/drawing/2014/main" id="{7A5328C9-4C55-4127-9C31-5C67BDD7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23850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PLANNING</a:t>
            </a:r>
          </a:p>
        </p:txBody>
      </p:sp>
      <p:sp>
        <p:nvSpPr>
          <p:cNvPr id="27" name="Planning-mark-0">
            <a:extLst xmlns:a="http://schemas.openxmlformats.org/drawingml/2006/main">
              <a:ext uri="{FF2B5EF4-FFF2-40B4-BE49-F238E27FC236}">
                <a16:creationId xmlns:a16="http://schemas.microsoft.com/office/drawing/2014/main" id="{F4C35E46-122F-4A87-8858-4BEB20CB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—</a:t>
            </a:r>
          </a:p>
        </p:txBody>
      </p:sp>
      <p:sp>
        <p:nvSpPr>
          <p:cNvPr id="28" name="Planning-item-0">
            <a:extLst xmlns:a="http://schemas.openxmlformats.org/drawingml/2006/main">
              <a:ext uri="{FF2B5EF4-FFF2-40B4-BE49-F238E27FC236}">
                <a16:creationId xmlns:a16="http://schemas.microsoft.com/office/drawing/2014/main" id="{C7ED48F9-B051-4D7E-A1B8-EDD68DDE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5433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active state</a:t>
            </a:r>
          </a:p>
        </p:txBody>
      </p:sp>
      <p:sp>
        <p:nvSpPr>
          <p:cNvPr id="29" name="Planning-mark-1">
            <a:extLst xmlns:a="http://schemas.openxmlformats.org/drawingml/2006/main">
              <a:ext uri="{FF2B5EF4-FFF2-40B4-BE49-F238E27FC236}">
                <a16:creationId xmlns:a16="http://schemas.microsoft.com/office/drawing/2014/main" id="{F6019DE8-3DA8-4DEF-9105-C9A4D0D3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—</a:t>
            </a:r>
          </a:p>
        </p:txBody>
      </p:sp>
      <p:sp>
        <p:nvSpPr>
          <p:cNvPr id="30" name="Planning-item-1">
            <a:extLst xmlns:a="http://schemas.openxmlformats.org/drawingml/2006/main">
              <a:ext uri="{FF2B5EF4-FFF2-40B4-BE49-F238E27FC236}">
                <a16:creationId xmlns:a16="http://schemas.microsoft.com/office/drawing/2014/main" id="{C97B7A4C-0E6A-4BA6-B6F7-EBBEE9EB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9624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execplans</a:t>
            </a:r>
          </a:p>
        </p:txBody>
      </p:sp>
      <p:sp>
        <p:nvSpPr>
          <p:cNvPr id="31" name="Planning-mark-2">
            <a:extLst xmlns:a="http://schemas.openxmlformats.org/drawingml/2006/main">
              <a:ext uri="{FF2B5EF4-FFF2-40B4-BE49-F238E27FC236}">
                <a16:creationId xmlns:a16="http://schemas.microsoft.com/office/drawing/2014/main" id="{29C3CDB9-A377-45C2-9787-12527C7E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3624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—</a:t>
            </a:r>
          </a:p>
        </p:txBody>
      </p:sp>
      <p:sp>
        <p:nvSpPr>
          <p:cNvPr id="32" name="Planning-item-2">
            <a:extLst xmlns:a="http://schemas.openxmlformats.org/drawingml/2006/main">
              <a:ext uri="{FF2B5EF4-FFF2-40B4-BE49-F238E27FC236}">
                <a16:creationId xmlns:a16="http://schemas.microsoft.com/office/drawing/2014/main" id="{30A22658-D650-45A5-8A8F-48C9381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36245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handoff</a:t>
            </a:r>
          </a:p>
        </p:txBody>
      </p:sp>
      <p:sp>
        <p:nvSpPr>
          <p:cNvPr id="33" name="Planning-mark-3">
            <a:extLst xmlns:a="http://schemas.openxmlformats.org/drawingml/2006/main">
              <a:ext uri="{FF2B5EF4-FFF2-40B4-BE49-F238E27FC236}">
                <a16:creationId xmlns:a16="http://schemas.microsoft.com/office/drawing/2014/main" id="{D0444BC8-8E4B-494C-851E-B3F528A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62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—</a:t>
            </a:r>
          </a:p>
        </p:txBody>
      </p:sp>
      <p:sp>
        <p:nvSpPr>
          <p:cNvPr id="34" name="Planning-item-3">
            <a:extLst xmlns:a="http://schemas.openxmlformats.org/drawingml/2006/main">
              <a:ext uri="{FF2B5EF4-FFF2-40B4-BE49-F238E27FC236}">
                <a16:creationId xmlns:a16="http://schemas.microsoft.com/office/drawing/2014/main" id="{95CE9724-6966-4DE6-84EC-A48CA33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7625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proof expectations</a:t>
            </a:r>
          </a:p>
        </p:txBody>
      </p:sp>
      <p:sp>
        <p:nvSpPr>
          <p:cNvPr id="35" name="Planning-mark-4">
            <a:extLst xmlns:a="http://schemas.openxmlformats.org/drawingml/2006/main">
              <a:ext uri="{FF2B5EF4-FFF2-40B4-BE49-F238E27FC236}">
                <a16:creationId xmlns:a16="http://schemas.microsoft.com/office/drawing/2014/main" id="{B3C08277-A565-48B8-86EC-9737300C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181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D28D9"/>
                </a:solidFill>
              </a:defRPr>
            </a:pPr>
            <a:r>
              <a:rPr sz="1800" b="1">
                <a:solidFill>
                  <a:srgbClr val="6D28D9"/>
                </a:solidFill>
              </a:rPr>
              <a:t>—</a:t>
            </a:r>
          </a:p>
        </p:txBody>
      </p:sp>
      <p:sp>
        <p:nvSpPr>
          <p:cNvPr id="36" name="Planning-item-4">
            <a:extLst xmlns:a="http://schemas.openxmlformats.org/drawingml/2006/main">
              <a:ext uri="{FF2B5EF4-FFF2-40B4-BE49-F238E27FC236}">
                <a16:creationId xmlns:a16="http://schemas.microsoft.com/office/drawing/2014/main" id="{4F0CC1A7-9A78-497F-99B4-9836D394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181600"/>
            <a:ext cx="4362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closeout</a:t>
            </a:r>
          </a:p>
        </p:txBody>
      </p:sp>
    </p:spTree>
    <p:extLst>
      <p:ext uri="{BB962C8B-B14F-4D97-AF65-F5344CB8AC3E}">
        <p14:creationId xmlns:p14="http://schemas.microsoft.com/office/powerpoint/2010/main" val="16216377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19E8ACD-A1D6-4A43-9952-2CB2759F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D28D9"/>
                </a:solidFill>
              </a:defRPr>
            </a:pPr>
            <a:r>
              <a:rPr sz="1200" b="1">
                <a:solidFill>
                  <a:srgbClr val="6D28D9"/>
                </a:solidFill>
              </a:rPr>
              <a:t>DISTINCTIVE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22C481-E711-40C3-BD6C-62FB6FF4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7734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The prompt is not the whole intent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EFB9AA-37EF-4F01-9955-E4432658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1449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AW preserves intent at multiple levels so agents do not collapse product-shaped outcomes into task-shaped slices.</a:t>
            </a:r>
          </a:p>
        </p:txBody>
      </p:sp>
      <p:sp>
        <p:nvSpPr>
          <p:cNvPr id="4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E114DCC4-9385-4D34-A97A-C47EB61E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A66B84E-FD5A-45DF-8A1E-89AC315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system / product intent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3A0803B4-AD7C-4A28-8880-74D2D20A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D85143A-373C-47B1-A4F4-C2AC35F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repo policy intent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6D5756CF-FCF3-44DF-B5C0-30B0D9FE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20087A7-617F-4B6C-8526-E6624BD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work / lane intent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F347AE79-AF4C-45DB-87C3-28E83F1E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3F348BF-AA67-4EE0-838C-B4EC6207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execution intent</a:t>
            </a:r>
          </a:p>
        </p:txBody>
      </p:sp>
      <p:sp>
        <p:nvSpPr>
          <p:cNvPr id="1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66D9AB2E-EAED-47B2-BAA3-0631401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A8D91347-760A-44F2-AA09-24B849B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closeout intent</a:t>
            </a:r>
          </a:p>
        </p:txBody>
      </p:sp>
      <p:sp>
        <p:nvSpPr>
          <p:cNvPr id="14" name="quote-rule">
            <a:extLst xmlns:a="http://schemas.openxmlformats.org/drawingml/2006/main">
              <a:ext uri="{FF2B5EF4-FFF2-40B4-BE49-F238E27FC236}">
                <a16:creationId xmlns:a16="http://schemas.microsoft.com/office/drawing/2014/main" id="{9301CA1D-F9E0-49D8-8688-BE2AB83C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5" name="big-quote-main">
            <a:extLst xmlns:a="http://schemas.openxmlformats.org/drawingml/2006/main">
              <a:ext uri="{FF2B5EF4-FFF2-40B4-BE49-F238E27FC236}">
                <a16:creationId xmlns:a16="http://schemas.microsoft.com/office/drawing/2014/main" id="{D26A97FF-3EEB-4702-B2B4-4A52D400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7810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The agent completed a task-shaped slice, but the human asked for a product-shaped outcome.</a:t>
            </a:r>
          </a:p>
        </p:txBody>
      </p:sp>
      <p:sp>
        <p:nvSpPr>
          <p:cNvPr id="16" name="big-quote-sub">
            <a:extLst xmlns:a="http://schemas.openxmlformats.org/drawingml/2006/main">
              <a:ext uri="{FF2B5EF4-FFF2-40B4-BE49-F238E27FC236}">
                <a16:creationId xmlns:a16="http://schemas.microsoft.com/office/drawing/2014/main" id="{3B5884FB-1C1F-46D1-83B4-F9956E94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Planning should close slices honestly without silently closing the larger intent.</a:t>
            </a:r>
          </a:p>
        </p:txBody>
      </p:sp>
    </p:spTree>
    <p:extLst>
      <p:ext uri="{BB962C8B-B14F-4D97-AF65-F5344CB8AC3E}">
        <p14:creationId xmlns:p14="http://schemas.microsoft.com/office/powerpoint/2010/main" val="18517605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C735937-5035-4377-962F-A188011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5309"/>
                </a:solidFill>
              </a:defRPr>
            </a:pPr>
            <a:r>
              <a:rPr sz="1200" b="1">
                <a:solidFill>
                  <a:srgbClr val="B45309"/>
                </a:solidFill>
              </a:rPr>
              <a:t>DISTINCTIVE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213B5C-A772-45AF-BBD4-2EE88FA0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3543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Friction is signal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0894C4-8E6F-46BD-A84D-0E7AB79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122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 Memory note, hard plan, or repeated steering correction can reveal that the repo itself is too hard to operate.</a:t>
            </a:r>
          </a:p>
        </p:txBody>
      </p:sp>
      <p:sp>
        <p:nvSpPr>
          <p:cNvPr id="4" name="Bad loop-label">
            <a:extLst xmlns:a="http://schemas.openxmlformats.org/drawingml/2006/main">
              <a:ext uri="{FF2B5EF4-FFF2-40B4-BE49-F238E27FC236}">
                <a16:creationId xmlns:a16="http://schemas.microsoft.com/office/drawing/2014/main" id="{E63286C1-B072-41EF-9F3E-1572640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581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BAD LOOP</a:t>
            </a:r>
          </a:p>
        </p:txBody>
      </p:sp>
      <p:sp>
        <p:nvSpPr>
          <p:cNvPr id="5" name="Bad loop-mark-0">
            <a:extLst xmlns:a="http://schemas.openxmlformats.org/drawingml/2006/main">
              <a:ext uri="{FF2B5EF4-FFF2-40B4-BE49-F238E27FC236}">
                <a16:creationId xmlns:a16="http://schemas.microsoft.com/office/drawing/2014/main" id="{80C6DF6F-4386-4178-A7D4-09E0EB97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6" name="Bad loop-item-0">
            <a:extLst xmlns:a="http://schemas.openxmlformats.org/drawingml/2006/main">
              <a:ext uri="{FF2B5EF4-FFF2-40B4-BE49-F238E27FC236}">
                <a16:creationId xmlns:a16="http://schemas.microsoft.com/office/drawing/2014/main" id="{E5EEFE23-9465-4FE7-BF37-928AC222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agent struggles</a:t>
            </a:r>
          </a:p>
        </p:txBody>
      </p:sp>
      <p:sp>
        <p:nvSpPr>
          <p:cNvPr id="7" name="Bad loop-mark-1">
            <a:extLst xmlns:a="http://schemas.openxmlformats.org/drawingml/2006/main">
              <a:ext uri="{FF2B5EF4-FFF2-40B4-BE49-F238E27FC236}">
                <a16:creationId xmlns:a16="http://schemas.microsoft.com/office/drawing/2014/main" id="{1026B9C3-EA6E-401A-B1BD-EAFFBC1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8" name="Bad loop-item-1">
            <a:extLst xmlns:a="http://schemas.openxmlformats.org/drawingml/2006/main">
              <a:ext uri="{FF2B5EF4-FFF2-40B4-BE49-F238E27FC236}">
                <a16:creationId xmlns:a16="http://schemas.microsoft.com/office/drawing/2014/main" id="{C3AA075C-1531-4AE3-8F3F-918D4441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add another instruction</a:t>
            </a:r>
          </a:p>
        </p:txBody>
      </p:sp>
      <p:sp>
        <p:nvSpPr>
          <p:cNvPr id="9" name="Bad loop-mark-2">
            <a:extLst xmlns:a="http://schemas.openxmlformats.org/drawingml/2006/main">
              <a:ext uri="{FF2B5EF4-FFF2-40B4-BE49-F238E27FC236}">
                <a16:creationId xmlns:a16="http://schemas.microsoft.com/office/drawing/2014/main" id="{42CD1E2D-4807-42EE-8B45-B7274341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</a:defRPr>
            </a:pPr>
            <a:r>
              <a:rPr sz="187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0" name="Bad loop-item-2">
            <a:extLst xmlns:a="http://schemas.openxmlformats.org/drawingml/2006/main">
              <a:ext uri="{FF2B5EF4-FFF2-40B4-BE49-F238E27FC236}">
                <a16:creationId xmlns:a16="http://schemas.microsoft.com/office/drawing/2014/main" id="{2C185925-862B-4D98-B070-FF8810FE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future agents read more noise</a:t>
            </a:r>
          </a:p>
        </p:txBody>
      </p:sp>
      <p:sp>
        <p:nvSpPr>
          <p:cNvPr id="11" name="friction-arrow">
            <a:extLst xmlns:a="http://schemas.openxmlformats.org/drawingml/2006/main">
              <a:ext uri="{FF2B5EF4-FFF2-40B4-BE49-F238E27FC236}">
                <a16:creationId xmlns:a16="http://schemas.microsoft.com/office/drawing/2014/main" id="{9C46ECC1-82C2-4ED1-9221-0C2ABDF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809625" cy="596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B45309"/>
                </a:solidFill>
              </a:defRPr>
            </a:pPr>
            <a:r>
              <a:rPr sz="4800" b="1">
                <a:solidFill>
                  <a:srgbClr val="B45309"/>
                </a:solidFill>
              </a:rPr>
              <a:t>→</a:t>
            </a:r>
          </a:p>
        </p:txBody>
      </p:sp>
      <p:sp>
        <p:nvSpPr>
          <p:cNvPr id="12" name="Better loop-label">
            <a:extLst xmlns:a="http://schemas.openxmlformats.org/drawingml/2006/main">
              <a:ext uri="{FF2B5EF4-FFF2-40B4-BE49-F238E27FC236}">
                <a16:creationId xmlns:a16="http://schemas.microsoft.com/office/drawing/2014/main" id="{11F59484-BECB-4765-8786-8B4E017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38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BETTER LOOP</a:t>
            </a:r>
          </a:p>
        </p:txBody>
      </p:sp>
      <p:sp>
        <p:nvSpPr>
          <p:cNvPr id="13" name="Better loop-mark-0">
            <a:extLst xmlns:a="http://schemas.openxmlformats.org/drawingml/2006/main">
              <a:ext uri="{FF2B5EF4-FFF2-40B4-BE49-F238E27FC236}">
                <a16:creationId xmlns:a16="http://schemas.microsoft.com/office/drawing/2014/main" id="{9F93A92B-B093-4F90-BBB8-4945E8B7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433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4" name="Better loop-item-0">
            <a:extLst xmlns:a="http://schemas.openxmlformats.org/drawingml/2006/main">
              <a:ext uri="{FF2B5EF4-FFF2-40B4-BE49-F238E27FC236}">
                <a16:creationId xmlns:a16="http://schemas.microsoft.com/office/drawing/2014/main" id="{1153F7AA-37F1-4D6B-A993-4DFED8D4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43300"/>
            <a:ext cx="579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capture the lesson</a:t>
            </a:r>
          </a:p>
        </p:txBody>
      </p:sp>
      <p:sp>
        <p:nvSpPr>
          <p:cNvPr id="15" name="Better loop-mark-1">
            <a:extLst xmlns:a="http://schemas.openxmlformats.org/drawingml/2006/main">
              <a:ext uri="{FF2B5EF4-FFF2-40B4-BE49-F238E27FC236}">
                <a16:creationId xmlns:a16="http://schemas.microsoft.com/office/drawing/2014/main" id="{3D81B864-6F91-4E74-93B6-9DB8F8C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62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6" name="Better loop-item-1">
            <a:extLst xmlns:a="http://schemas.openxmlformats.org/drawingml/2006/main">
              <a:ext uri="{FF2B5EF4-FFF2-40B4-BE49-F238E27FC236}">
                <a16:creationId xmlns:a16="http://schemas.microsoft.com/office/drawing/2014/main" id="{0151F833-071A-4257-990C-E6C8ED1F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962400"/>
            <a:ext cx="579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promote to the right surface</a:t>
            </a:r>
          </a:p>
        </p:txBody>
      </p:sp>
      <p:sp>
        <p:nvSpPr>
          <p:cNvPr id="17" name="Better loop-mark-2">
            <a:extLst xmlns:a="http://schemas.openxmlformats.org/drawingml/2006/main">
              <a:ext uri="{FF2B5EF4-FFF2-40B4-BE49-F238E27FC236}">
                <a16:creationId xmlns:a16="http://schemas.microsoft.com/office/drawing/2014/main" id="{DD3BAE84-0519-431C-BBBC-D25A85F2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815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8" name="Better loop-item-2">
            <a:extLst xmlns:a="http://schemas.openxmlformats.org/drawingml/2006/main">
              <a:ext uri="{FF2B5EF4-FFF2-40B4-BE49-F238E27FC236}">
                <a16:creationId xmlns:a16="http://schemas.microsoft.com/office/drawing/2014/main" id="{7C67F409-E7EB-4EB4-85D0-6C73EB84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381500"/>
            <a:ext cx="579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827"/>
                </a:solidFill>
              </a:defRPr>
            </a:pPr>
            <a:r>
              <a:rPr sz="1875">
                <a:solidFill>
                  <a:srgbClr val="111827"/>
                </a:solidFill>
              </a:rPr>
              <a:t>fix the underlying affordance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E6D015B9-97FC-4888-B629-E165505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Memory and Planning are not only compensation; they create improvement pressure.</a:t>
            </a:r>
          </a:p>
        </p:txBody>
      </p:sp>
    </p:spTree>
    <p:extLst>
      <p:ext uri="{BB962C8B-B14F-4D97-AF65-F5344CB8AC3E}">
        <p14:creationId xmlns:p14="http://schemas.microsoft.com/office/powerpoint/2010/main" val="8999030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BEFCAAC-B538-4882-AA9C-09E7CD41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OPERATING ECONOMICS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4B8144-BD2B-496E-ABA5-35AECFB6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108394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Weak agents get safer; strong agents get cheaper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D2D947-AEBC-4090-81F4-B213617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902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AW reduces the amount of repo reasoning that each agent must reconstruct from scratch.</a:t>
            </a:r>
          </a:p>
        </p:txBody>
      </p:sp>
      <p:sp>
        <p:nvSpPr>
          <p:cNvPr id="4" name="Weak agents-label">
            <a:extLst xmlns:a="http://schemas.openxmlformats.org/drawingml/2006/main">
              <a:ext uri="{FF2B5EF4-FFF2-40B4-BE49-F238E27FC236}">
                <a16:creationId xmlns:a16="http://schemas.microsoft.com/office/drawing/2014/main" id="{138B069E-9C9B-4F2C-BCF4-182AB795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WEAK AGENTS</a:t>
            </a:r>
          </a:p>
        </p:txBody>
      </p:sp>
      <p:sp>
        <p:nvSpPr>
          <p:cNvPr id="5" name="Weak agents-mark-0">
            <a:extLst xmlns:a="http://schemas.openxmlformats.org/drawingml/2006/main">
              <a:ext uri="{FF2B5EF4-FFF2-40B4-BE49-F238E27FC236}">
                <a16:creationId xmlns:a16="http://schemas.microsoft.com/office/drawing/2014/main" id="{DA7427B0-8CF2-4A64-A71F-1D323C3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6" name="Weak agents-item-0">
            <a:extLst xmlns:a="http://schemas.openxmlformats.org/drawingml/2006/main">
              <a:ext uri="{FF2B5EF4-FFF2-40B4-BE49-F238E27FC236}">
                <a16:creationId xmlns:a16="http://schemas.microsoft.com/office/drawing/2014/main" id="{32086321-E06A-4A9B-925E-C2770F7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too much implicit context</a:t>
            </a:r>
          </a:p>
        </p:txBody>
      </p:sp>
      <p:sp>
        <p:nvSpPr>
          <p:cNvPr id="7" name="Weak agents-mark-1">
            <a:extLst xmlns:a="http://schemas.openxmlformats.org/drawingml/2006/main">
              <a:ext uri="{FF2B5EF4-FFF2-40B4-BE49-F238E27FC236}">
                <a16:creationId xmlns:a16="http://schemas.microsoft.com/office/drawing/2014/main" id="{2401E71D-4EDA-41A9-83E4-9593144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8" name="Weak agents-item-1">
            <a:extLst xmlns:a="http://schemas.openxmlformats.org/drawingml/2006/main">
              <a:ext uri="{FF2B5EF4-FFF2-40B4-BE49-F238E27FC236}">
                <a16:creationId xmlns:a16="http://schemas.microsoft.com/office/drawing/2014/main" id="{9F92670E-AA5B-401A-91F1-F7CE282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guess the edit surface</a:t>
            </a:r>
          </a:p>
        </p:txBody>
      </p:sp>
      <p:sp>
        <p:nvSpPr>
          <p:cNvPr id="9" name="Weak agents-mark-2">
            <a:extLst xmlns:a="http://schemas.openxmlformats.org/drawingml/2006/main">
              <a:ext uri="{FF2B5EF4-FFF2-40B4-BE49-F238E27FC236}">
                <a16:creationId xmlns:a16="http://schemas.microsoft.com/office/drawing/2014/main" id="{DEDA0DA0-3FBD-4634-BF47-A95BD73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0" name="Weak agents-item-2">
            <a:extLst xmlns:a="http://schemas.openxmlformats.org/drawingml/2006/main">
              <a:ext uri="{FF2B5EF4-FFF2-40B4-BE49-F238E27FC236}">
                <a16:creationId xmlns:a16="http://schemas.microsoft.com/office/drawing/2014/main" id="{D867EEBE-581E-4D10-850A-BA0DE7B1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run convenient proof</a:t>
            </a:r>
          </a:p>
        </p:txBody>
      </p:sp>
      <p:sp>
        <p:nvSpPr>
          <p:cNvPr id="11" name="Weak agents-mark-3">
            <a:extLst xmlns:a="http://schemas.openxmlformats.org/drawingml/2006/main">
              <a:ext uri="{FF2B5EF4-FFF2-40B4-BE49-F238E27FC236}">
                <a16:creationId xmlns:a16="http://schemas.microsoft.com/office/drawing/2014/main" id="{AF4A787D-3A7B-4EC1-9DF9-E3486569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—</a:t>
            </a:r>
          </a:p>
        </p:txBody>
      </p:sp>
      <p:sp>
        <p:nvSpPr>
          <p:cNvPr id="12" name="Weak agents-item-3">
            <a:extLst xmlns:a="http://schemas.openxmlformats.org/drawingml/2006/main">
              <a:ext uri="{FF2B5EF4-FFF2-40B4-BE49-F238E27FC236}">
                <a16:creationId xmlns:a16="http://schemas.microsoft.com/office/drawing/2014/main" id="{8116B3B7-C34D-42EB-8059-774B529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lose the handoff</a:t>
            </a:r>
          </a:p>
        </p:txBody>
      </p:sp>
      <p:sp>
        <p:nvSpPr>
          <p:cNvPr id="13" name="Strong agents-label">
            <a:extLst xmlns:a="http://schemas.openxmlformats.org/drawingml/2006/main">
              <a:ext uri="{FF2B5EF4-FFF2-40B4-BE49-F238E27FC236}">
                <a16:creationId xmlns:a16="http://schemas.microsoft.com/office/drawing/2014/main" id="{5647B564-E68A-476A-B52E-92AD1E80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619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STRONG AGENTS</a:t>
            </a:r>
          </a:p>
        </p:txBody>
      </p:sp>
      <p:sp>
        <p:nvSpPr>
          <p:cNvPr id="14" name="Strong agents-mark-0">
            <a:extLst xmlns:a="http://schemas.openxmlformats.org/drawingml/2006/main">
              <a:ext uri="{FF2B5EF4-FFF2-40B4-BE49-F238E27FC236}">
                <a16:creationId xmlns:a16="http://schemas.microsoft.com/office/drawing/2014/main" id="{8BE6FE77-2FA4-42F8-8229-FDC7F54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5" name="Strong agents-item-0">
            <a:extLst xmlns:a="http://schemas.openxmlformats.org/drawingml/2006/main">
              <a:ext uri="{FF2B5EF4-FFF2-40B4-BE49-F238E27FC236}">
                <a16:creationId xmlns:a16="http://schemas.microsoft.com/office/drawing/2014/main" id="{03193C4D-DBE2-4BBB-B543-5FBC2641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4330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can reconstruct context</a:t>
            </a:r>
          </a:p>
        </p:txBody>
      </p:sp>
      <p:sp>
        <p:nvSpPr>
          <p:cNvPr id="16" name="Strong agents-mark-1">
            <a:extLst xmlns:a="http://schemas.openxmlformats.org/drawingml/2006/main">
              <a:ext uri="{FF2B5EF4-FFF2-40B4-BE49-F238E27FC236}">
                <a16:creationId xmlns:a16="http://schemas.microsoft.com/office/drawing/2014/main" id="{2893C77C-2B05-4D7A-B2DE-A0EE4DE4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814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7" name="Strong agents-item-1">
            <a:extLst xmlns:a="http://schemas.openxmlformats.org/drawingml/2006/main">
              <a:ext uri="{FF2B5EF4-FFF2-40B4-BE49-F238E27FC236}">
                <a16:creationId xmlns:a16="http://schemas.microsoft.com/office/drawing/2014/main" id="{AFFC60B7-24E8-4ADD-96E3-5629319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814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but pay in tokens, time, and review</a:t>
            </a:r>
          </a:p>
        </p:txBody>
      </p:sp>
      <p:sp>
        <p:nvSpPr>
          <p:cNvPr id="18" name="Strong agents-mark-2">
            <a:extLst xmlns:a="http://schemas.openxmlformats.org/drawingml/2006/main">
              <a:ext uri="{FF2B5EF4-FFF2-40B4-BE49-F238E27FC236}">
                <a16:creationId xmlns:a16="http://schemas.microsoft.com/office/drawing/2014/main" id="{5FC7EB28-9193-4A9D-8EB7-EDF4FCB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38650"/>
            <a:ext cx="228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—</a:t>
            </a:r>
          </a:p>
        </p:txBody>
      </p:sp>
      <p:sp>
        <p:nvSpPr>
          <p:cNvPr id="19" name="Strong agents-item-2">
            <a:extLst xmlns:a="http://schemas.openxmlformats.org/drawingml/2006/main">
              <a:ext uri="{FF2B5EF4-FFF2-40B4-BE49-F238E27FC236}">
                <a16:creationId xmlns:a16="http://schemas.microsoft.com/office/drawing/2014/main" id="{33B8E321-5D29-4F64-B402-4E8CB672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38650"/>
            <a:ext cx="579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827"/>
                </a:solidFill>
              </a:defRPr>
            </a:pPr>
            <a:r>
              <a:rPr sz="2025">
                <a:solidFill>
                  <a:srgbClr val="111827"/>
                </a:solidFill>
              </a:rPr>
              <a:t>AW frees reasoning for the actual engineering problem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F5C217A4-2936-4A21-B1CC-8DF73DE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488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Make implicit context explicit, checked-in, and queryable.</a:t>
            </a:r>
          </a:p>
        </p:txBody>
      </p:sp>
    </p:spTree>
    <p:extLst>
      <p:ext uri="{BB962C8B-B14F-4D97-AF65-F5344CB8AC3E}">
        <p14:creationId xmlns:p14="http://schemas.microsoft.com/office/powerpoint/2010/main" val="12950746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7A24103-91DB-4C2D-83BC-5F2A167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1C1C"/>
                </a:solidFill>
              </a:defRPr>
            </a:pPr>
            <a:r>
              <a:rPr sz="1200" b="1">
                <a:solidFill>
                  <a:srgbClr val="B91C1C"/>
                </a:solidFill>
              </a:rPr>
              <a:t>COST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37A6E-35A2-43C9-9525-53DC24DE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68580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The expensive failure is rework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C15818-6167-44EB-A884-361797AF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9696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AI can make the first pass look cheap while moving cost into review, repair, and later rediscovery.</a:t>
            </a:r>
          </a:p>
        </p:txBody>
      </p:sp>
      <p:sp>
        <p:nvSpPr>
          <p:cNvPr id="4" name="wrong context-step-label">
            <a:extLst xmlns:a="http://schemas.openxmlformats.org/drawingml/2006/main">
              <a:ext uri="{FF2B5EF4-FFF2-40B4-BE49-F238E27FC236}">
                <a16:creationId xmlns:a16="http://schemas.microsoft.com/office/drawing/2014/main" id="{AC57A7AA-BF6C-4567-9483-33D74F86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91C1C"/>
                </a:solidFill>
              </a:defRPr>
            </a:pPr>
            <a:r>
              <a:rPr sz="2325" b="1">
                <a:solidFill>
                  <a:srgbClr val="B91C1C"/>
                </a:solidFill>
              </a:rPr>
              <a:t>wrong context</a:t>
            </a:r>
          </a:p>
        </p:txBody>
      </p:sp>
      <p:sp>
        <p:nvSpPr>
          <p:cNvPr id="5" name="wrong context-step-detail">
            <a:extLst xmlns:a="http://schemas.openxmlformats.org/drawingml/2006/main">
              <a:ext uri="{FF2B5EF4-FFF2-40B4-BE49-F238E27FC236}">
                <a16:creationId xmlns:a16="http://schemas.microsoft.com/office/drawing/2014/main" id="{1F8082BF-4BC4-4D51-B202-02381B3F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20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the system is misunderstood</a:t>
            </a:r>
          </a:p>
        </p:txBody>
      </p:sp>
      <p:sp>
        <p:nvSpPr>
          <p:cNvPr id="6" name="wrong implementation-step-label">
            <a:extLst xmlns:a="http://schemas.openxmlformats.org/drawingml/2006/main">
              <a:ext uri="{FF2B5EF4-FFF2-40B4-BE49-F238E27FC236}">
                <a16:creationId xmlns:a16="http://schemas.microsoft.com/office/drawing/2014/main" id="{C33AFBE4-0DA6-43C9-859F-FB356250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91C1C"/>
                </a:solidFill>
              </a:defRPr>
            </a:pPr>
            <a:r>
              <a:rPr sz="2325" b="1">
                <a:solidFill>
                  <a:srgbClr val="B91C1C"/>
                </a:solidFill>
              </a:rPr>
              <a:t>wrong implementation</a:t>
            </a:r>
          </a:p>
        </p:txBody>
      </p:sp>
      <p:sp>
        <p:nvSpPr>
          <p:cNvPr id="7" name="wrong implementation-step-detail">
            <a:extLst xmlns:a="http://schemas.openxmlformats.org/drawingml/2006/main">
              <a:ext uri="{FF2B5EF4-FFF2-40B4-BE49-F238E27FC236}">
                <a16:creationId xmlns:a16="http://schemas.microsoft.com/office/drawing/2014/main" id="{2F89649C-BB21-48DA-8C52-DDF51D6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76650"/>
            <a:ext cx="121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locally plausible</a:t>
            </a:r>
          </a:p>
        </p:txBody>
      </p:sp>
      <p:sp>
        <p:nvSpPr>
          <p:cNvPr id="8" name="weak proof-step-label">
            <a:extLst xmlns:a="http://schemas.openxmlformats.org/drawingml/2006/main">
              <a:ext uri="{FF2B5EF4-FFF2-40B4-BE49-F238E27FC236}">
                <a16:creationId xmlns:a16="http://schemas.microsoft.com/office/drawing/2014/main" id="{49049B9A-B381-4ECA-AF84-D42CCE5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5309"/>
                </a:solidFill>
              </a:defRPr>
            </a:pPr>
            <a:r>
              <a:rPr sz="2325" b="1">
                <a:solidFill>
                  <a:srgbClr val="B45309"/>
                </a:solidFill>
              </a:rPr>
              <a:t>weak proof</a:t>
            </a:r>
          </a:p>
        </p:txBody>
      </p:sp>
      <p:sp>
        <p:nvSpPr>
          <p:cNvPr id="9" name="weak proof-step-detail">
            <a:extLst xmlns:a="http://schemas.openxmlformats.org/drawingml/2006/main">
              <a:ext uri="{FF2B5EF4-FFF2-40B4-BE49-F238E27FC236}">
                <a16:creationId xmlns:a16="http://schemas.microsoft.com/office/drawing/2014/main" id="{07FD8164-72D8-458C-B9E8-1770B935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76650"/>
            <a:ext cx="2228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confidence without coverage</a:t>
            </a:r>
          </a:p>
        </p:txBody>
      </p:sp>
      <p:sp>
        <p:nvSpPr>
          <p:cNvPr id="10" name="late discovery-step-label">
            <a:extLst xmlns:a="http://schemas.openxmlformats.org/drawingml/2006/main">
              <a:ext uri="{FF2B5EF4-FFF2-40B4-BE49-F238E27FC236}">
                <a16:creationId xmlns:a16="http://schemas.microsoft.com/office/drawing/2014/main" id="{E851D8B2-F403-4BB1-B338-0D1C12F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D28D9"/>
                </a:solidFill>
              </a:defRPr>
            </a:pPr>
            <a:r>
              <a:rPr sz="2325" b="1">
                <a:solidFill>
                  <a:srgbClr val="6D28D9"/>
                </a:solidFill>
              </a:rPr>
              <a:t>late discovery</a:t>
            </a:r>
          </a:p>
        </p:txBody>
      </p:sp>
      <p:sp>
        <p:nvSpPr>
          <p:cNvPr id="11" name="late discovery-step-detail">
            <a:extLst xmlns:a="http://schemas.openxmlformats.org/drawingml/2006/main">
              <a:ext uri="{FF2B5EF4-FFF2-40B4-BE49-F238E27FC236}">
                <a16:creationId xmlns:a16="http://schemas.microsoft.com/office/drawing/2014/main" id="{9076C4B5-D73B-435A-9D82-54D7533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7665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future work depends on it</a:t>
            </a:r>
          </a:p>
        </p:txBody>
      </p:sp>
      <p:sp>
        <p:nvSpPr>
          <p:cNvPr id="12" name="redo-step-label">
            <a:extLst xmlns:a="http://schemas.openxmlformats.org/drawingml/2006/main">
              <a:ext uri="{FF2B5EF4-FFF2-40B4-BE49-F238E27FC236}">
                <a16:creationId xmlns:a16="http://schemas.microsoft.com/office/drawing/2014/main" id="{CF0A42B0-A80E-4003-A1B2-CC9C5503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238500"/>
            <a:ext cx="312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redo</a:t>
            </a:r>
          </a:p>
        </p:txBody>
      </p:sp>
      <p:sp>
        <p:nvSpPr>
          <p:cNvPr id="13" name="redo-step-detail">
            <a:extLst xmlns:a="http://schemas.openxmlformats.org/drawingml/2006/main">
              <a:ext uri="{FF2B5EF4-FFF2-40B4-BE49-F238E27FC236}">
                <a16:creationId xmlns:a16="http://schemas.microsoft.com/office/drawing/2014/main" id="{26826AE3-F87C-4FB3-A4B2-242073F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676650"/>
            <a:ext cx="127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pay the real cost</a:t>
            </a:r>
          </a:p>
        </p:txBody>
      </p:sp>
      <p:sp>
        <p:nvSpPr>
          <p:cNvPr id="14" name="quote-rule">
            <a:extLst xmlns:a="http://schemas.openxmlformats.org/drawingml/2006/main">
              <a:ext uri="{FF2B5EF4-FFF2-40B4-BE49-F238E27FC236}">
                <a16:creationId xmlns:a16="http://schemas.microsoft.com/office/drawing/2014/main" id="{577B4508-B38D-406E-A132-47F95C3F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818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5" name="big-quote-main">
            <a:extLst xmlns:a="http://schemas.openxmlformats.org/drawingml/2006/main">
              <a:ext uri="{FF2B5EF4-FFF2-40B4-BE49-F238E27FC236}">
                <a16:creationId xmlns:a16="http://schemas.microsoft.com/office/drawing/2014/main" id="{E0C99B2B-5D5F-46D1-989C-FDB1B13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13525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AW spends a little effort upfront so teams spend less effort later re-understanding, repairing, and redoing agent-assisted work.</a:t>
            </a:r>
          </a:p>
        </p:txBody>
      </p:sp>
      <p:sp>
        <p:nvSpPr>
          <p:cNvPr id="16" name="big-quote-sub">
            <a:extLst xmlns:a="http://schemas.openxmlformats.org/drawingml/2006/main">
              <a:ext uri="{FF2B5EF4-FFF2-40B4-BE49-F238E27FC236}">
                <a16:creationId xmlns:a16="http://schemas.microsoft.com/office/drawing/2014/main" id="{49500634-52E2-489A-8D33-FC66ABDD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296400"/>
            <a:ext cx="1162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overhead should earn its place by reducing total successful-completion cost.</a:t>
            </a:r>
          </a:p>
        </p:txBody>
      </p:sp>
    </p:spTree>
    <p:extLst>
      <p:ext uri="{BB962C8B-B14F-4D97-AF65-F5344CB8AC3E}">
        <p14:creationId xmlns:p14="http://schemas.microsoft.com/office/powerpoint/2010/main" val="17985971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29FD217-3C3A-4395-AF60-5F5F1AB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75569"/>
                </a:solidFill>
              </a:defRPr>
            </a:pPr>
            <a:r>
              <a:rPr sz="1200" b="1">
                <a:solidFill>
                  <a:srgbClr val="475569"/>
                </a:solidFill>
              </a:rPr>
              <a:t>BOUNDARY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164C13-138F-4096-920D-2A496EE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68961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What Agentic Workspace is not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C0158C-6780-4A36-913F-A4253791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2249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package targets durable intent, context, proof, ownership, and handoff state. It should not absorb mature engineering controls.</a:t>
            </a:r>
          </a:p>
        </p:txBody>
      </p:sp>
      <p:sp>
        <p:nvSpPr>
          <p:cNvPr id="4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649C0314-6CCC-4913-971E-A0C65D26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90823D5-0BB3-4E49-8FCF-75943DB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6210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Jira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9FACFD03-AEDD-47F2-B67C-2AD9F836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87C054C-B64B-46D2-82B1-214A7CD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6210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CI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6658F0DF-6B5C-4183-B085-3B502660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5B403E1-CAD7-4133-B9A0-46616270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6210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RAG memory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009321FB-9549-4952-8652-E058A0CF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66533E3-0789-4208-A29E-63F51118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6210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autonomous orchestration</a:t>
            </a:r>
          </a:p>
        </p:txBody>
      </p:sp>
      <p:sp>
        <p:nvSpPr>
          <p:cNvPr id="1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AED1024E-1658-46D6-B0E1-3C4978D2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8506C18-9783-4310-ABDD-863929B7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6210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a replacement for review</a:t>
            </a:r>
          </a:p>
        </p:txBody>
      </p:sp>
      <p:sp>
        <p:nvSpPr>
          <p:cNvPr id="14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202AA13F-EC22-44E3-A864-46996FF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2C1CA087-551E-4C39-88E9-C5D3E7E2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38500"/>
            <a:ext cx="659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security governance</a:t>
            </a:r>
          </a:p>
        </p:txBody>
      </p:sp>
      <p:sp>
        <p:nvSpPr>
          <p:cNvPr id="1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9D079677-63FE-4EBE-8302-39D3A78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187DB97-C72A-4B6D-AB1B-7868ACE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0"/>
            <a:ext cx="659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dependency/licensing tooling</a:t>
            </a:r>
          </a:p>
        </p:txBody>
      </p:sp>
      <p:sp>
        <p:nvSpPr>
          <p:cNvPr id="1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E07C71F5-CB3E-45D8-9969-49873EAA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75A6AC3-BB9C-47B2-BDC4-E54D7C6B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91000"/>
            <a:ext cx="659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human accountability</a:t>
            </a:r>
          </a:p>
        </p:txBody>
      </p:sp>
      <p:sp>
        <p:nvSpPr>
          <p:cNvPr id="2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0EA495DF-3A38-4C72-BCBD-9C62ADEA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28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</a:defRPr>
            </a:pPr>
            <a:r>
              <a:rPr sz="2175" b="1">
                <a:solidFill>
                  <a:srgbClr val="0F766E"/>
                </a:solidFill>
              </a:rPr>
              <a:t>—</a:t>
            </a:r>
          </a:p>
        </p:txBody>
      </p:sp>
      <p:sp>
        <p:nvSpPr>
          <p:cNvPr id="2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B535E29-0C68-44C0-83D4-D25247BF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86300"/>
            <a:ext cx="659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827"/>
                </a:solidFill>
              </a:defRPr>
            </a:pPr>
            <a:r>
              <a:rPr sz="2175">
                <a:solidFill>
                  <a:srgbClr val="111827"/>
                </a:solidFill>
              </a:rPr>
              <a:t>not a general plugin platform today</a:t>
            </a:r>
          </a:p>
        </p:txBody>
      </p:sp>
    </p:spTree>
    <p:extLst>
      <p:ext uri="{BB962C8B-B14F-4D97-AF65-F5344CB8AC3E}">
        <p14:creationId xmlns:p14="http://schemas.microsoft.com/office/powerpoint/2010/main" val="12399211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2E1E456-135C-4CAA-8326-14037FA4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653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TAKEAWAY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E7ACF3-7D5A-4342-B186-C30DA09B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09650"/>
            <a:ext cx="59626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Repo state beats chat state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08F7B5-F3D3-4107-A1CB-F3AC1DEA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1506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If agent work must survive tools, sessions, branches, and handoffs, the operating context belongs in the repository.</a:t>
            </a:r>
          </a:p>
        </p:txBody>
      </p:sp>
      <p:sp>
        <p:nvSpPr>
          <p:cNvPr id="4" name="quote-rule">
            <a:extLst xmlns:a="http://schemas.openxmlformats.org/drawingml/2006/main">
              <a:ext uri="{FF2B5EF4-FFF2-40B4-BE49-F238E27FC236}">
                <a16:creationId xmlns:a16="http://schemas.microsoft.com/office/drawing/2014/main" id="{E21A0DB7-FFA9-44C9-9C1F-4841D974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big-quote-main">
            <a:extLst xmlns:a="http://schemas.openxmlformats.org/drawingml/2006/main">
              <a:ext uri="{FF2B5EF4-FFF2-40B4-BE49-F238E27FC236}">
                <a16:creationId xmlns:a16="http://schemas.microsoft.com/office/drawing/2014/main" id="{CA44D211-97FF-4840-85F4-A9B42253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3525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The goal is not more generated code. The goal is lower cost to continue, review, and trust agent-assisted work.</a:t>
            </a:r>
          </a:p>
        </p:txBody>
      </p:sp>
      <p:sp>
        <p:nvSpPr>
          <p:cNvPr id="6" name="big-quote-sub">
            <a:extLst xmlns:a="http://schemas.openxmlformats.org/drawingml/2006/main">
              <a:ext uri="{FF2B5EF4-FFF2-40B4-BE49-F238E27FC236}">
                <a16:creationId xmlns:a16="http://schemas.microsoft.com/office/drawing/2014/main" id="{4022D6FD-227A-47ED-9BAA-3A252B8E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62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Agentic Workspace is a small repo-native layer for making that work cumulative.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C25015B-AC25-428B-AC9B-D88CAFF3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653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Suggested demo: fresh agent enters repo -&gt; start/preflight -&gt; summary -&gt; proof -&gt; closeout.</a:t>
            </a:r>
          </a:p>
        </p:txBody>
      </p:sp>
    </p:spTree>
    <p:extLst>
      <p:ext uri="{BB962C8B-B14F-4D97-AF65-F5344CB8AC3E}">
        <p14:creationId xmlns:p14="http://schemas.microsoft.com/office/powerpoint/2010/main" val="1773178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2026-05-06T19:09:22.5180000Z</dcterms:created>
  <dcterms:modified xsi:type="dcterms:W3CDTF">2026-05-06T19:09:22.5180000Z</dcterms:modified>
</coreProperties>
</file>